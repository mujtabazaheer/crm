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463040"/>
            <a:ext cx="137160" cy="329184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" name="Text 1"/>
          <p:cNvSpPr/>
          <p:nvPr/>
        </p:nvSpPr>
        <p:spPr>
          <a:xfrm>
            <a:off x="1097280" y="146304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EduCRM Master Platform Specification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1097280" y="224028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Comprehensive Multi-Tenant Architecture &amp; End-to-End System Flow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097280" y="278892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 PDF Requirements Mapping (§3.1 - §3.27 &amp; §4.1 - §4.15)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Dedicated User Roles • 5 Active Gemini AI Engines • Real-Time Firestore Synchronization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097280" y="3840480"/>
            <a:ext cx="9601200" cy="1737360"/>
          </a:xfrm>
          <a:prstGeom prst="rect">
            <a:avLst>
              <a:gd name="adj" fmla="val 4211"/>
            </a:avLst>
          </a:prstGeom>
          <a:solidFill>
            <a:srgbClr val="121824"/>
          </a:solidFill>
          <a:ln w="12700">
            <a:solidFill>
              <a:srgbClr val="1F29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371600" y="4023360"/>
            <a:ext cx="90525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🌐 Live Web App: https://education-crm-9fee2.web.app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🐙 GitHub Repository: https://github.com/MujtabaZaheer/CRM.git (main)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⚡ Features: Dynamic Demo Toggle (Show/Hide Sample Data) • 1-Click Role Quick-Access • Google Drive OCR Storage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3200400" cy="292608"/>
          </a:xfrm>
          <a:prstGeom prst="rect">
            <a:avLst>
              <a:gd name="adj" fmla="val 18750"/>
            </a:avLst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65760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B981"/>
                </a:solidFill>
              </a:rPr>
              <a:t>SECTION 1: SYSTEM OBJECTIVES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749808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System Objectives &amp; Core Mission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23444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vision and core capabilities defined in Section 1 of the specification.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691640"/>
            <a:ext cx="5120640" cy="4434840"/>
          </a:xfrm>
          <a:prstGeom prst="rect">
            <a:avLst>
              <a:gd name="adj" fmla="val 1649"/>
            </a:avLst>
          </a:prstGeom>
          <a:solidFill>
            <a:srgbClr val="121824"/>
          </a:solidFill>
          <a:ln w="12700">
            <a:solidFill>
              <a:srgbClr val="1F29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18745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</a:rPr>
              <a:t>Core Functional Objectives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2286000"/>
            <a:ext cx="45720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Capture &amp; manage prospective-student leads from multiple channels.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Convert qualified leads into university applications seamlessly.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Track applications through multi-stage configurable workflows.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Manage student documents with strict regulatory and KYC compliance.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Maintain university, campus, programme, intake, fee &amp; eligibility catalog.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Coordinate work among counsellors, agents, branch offices &amp; teams.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126480" y="1691640"/>
            <a:ext cx="5120640" cy="4434840"/>
          </a:xfrm>
          <a:prstGeom prst="rect">
            <a:avLst>
              <a:gd name="adj" fmla="val 1649"/>
            </a:avLst>
          </a:prstGeom>
          <a:solidFill>
            <a:srgbClr val="121824"/>
          </a:solidFill>
          <a:ln w="12700">
            <a:solidFill>
              <a:srgbClr val="1F29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0" y="18745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B6D4"/>
                </a:solidFill>
              </a:rPr>
              <a:t>Intelligence &amp; Enterprise Capabilities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0" y="2286000"/>
            <a:ext cx="45720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Omnichannel communication: Email, WhatsApp, SMS &amp; internal messaging.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Gemini 2.0 AI Suite: Course matching, SOP drafting, OCR &amp; visa risk.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Financial oversight: Invoicing, payments, refunds &amp; agent commissions.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Advanced Analytics: Operational, financial, funnel &amp; conversion reports.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Security &amp; Governance: RBAC, GDPR privacy center &amp; immutable audit logs.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3200400" cy="292608"/>
          </a:xfrm>
          <a:prstGeom prst="rect">
            <a:avLst>
              <a:gd name="adj" fmla="val 18750"/>
            </a:avLst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65760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B981"/>
                </a:solidFill>
              </a:rPr>
              <a:t>SECTION 2: 14 USER ROLES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749808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User Roles &amp; Responsibilities Matrix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23444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 mapping of all 14 configurable user roles (§2 of specification).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691640"/>
            <a:ext cx="3337560" cy="4434840"/>
          </a:xfrm>
          <a:prstGeom prst="rect">
            <a:avLst>
              <a:gd name="adj" fmla="val 2192"/>
            </a:avLst>
          </a:prstGeom>
          <a:solidFill>
            <a:srgbClr val="121824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1874520"/>
            <a:ext cx="2880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855F7"/>
                </a:solidFill>
              </a:rPr>
              <a:t>Governance &amp; Admin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960120" y="2286000"/>
            <a:ext cx="288036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FFFFFF"/>
                </a:solidFill>
              </a:rPr>
              <a:t>• Platform Super Admin: Multi-tenant, subscriptions &amp; health.</a:t>
            </a:r>
            <a:endParaRPr lang="en-US" sz="10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FFFFFF"/>
                </a:solidFill>
              </a:rPr>
              <a:t>• Org Admin: Office setups, master data, workflows &amp; roles.</a:t>
            </a:r>
            <a:endParaRPr lang="en-US" sz="10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FFFFFF"/>
                </a:solidFill>
              </a:rPr>
              <a:t>• Office Manager: Branch operations, counsellor workload.</a:t>
            </a:r>
            <a:endParaRPr lang="en-US" sz="10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FFFFFF"/>
                </a:solidFill>
              </a:rPr>
              <a:t>• Auditor / Read-Only: Immutable audit inspection &amp; logs.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43400" y="1691640"/>
            <a:ext cx="3337560" cy="4434840"/>
          </a:xfrm>
          <a:prstGeom prst="rect">
            <a:avLst>
              <a:gd name="adj" fmla="val 2192"/>
            </a:avLst>
          </a:prstGeom>
          <a:solidFill>
            <a:srgbClr val="121824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0" y="1874520"/>
            <a:ext cx="2880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B981"/>
                </a:solidFill>
              </a:rPr>
              <a:t>Operations &amp; Processing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572000" y="2286000"/>
            <a:ext cx="288036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FFFFFF"/>
                </a:solidFill>
              </a:rPr>
              <a:t>• Team Leader: Application allocation, SLAs &amp; team KPIs.</a:t>
            </a:r>
            <a:endParaRPr lang="en-US" sz="10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FFFFFF"/>
                </a:solidFill>
              </a:rPr>
              <a:t>• Counsellor: Lead conversion, student profiles &amp; AI matching.</a:t>
            </a:r>
            <a:endParaRPr lang="en-US" sz="10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FFFFFF"/>
                </a:solidFill>
              </a:rPr>
              <a:t>• Admissions Officer: Document verification &amp; offer decisions.</a:t>
            </a:r>
            <a:endParaRPr lang="en-US" sz="10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FFFFFF"/>
                </a:solidFill>
              </a:rPr>
              <a:t>• Compliance Officer: Regulatory, KYC &amp; financial verification.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955280" y="1691640"/>
            <a:ext cx="3337560" cy="4434840"/>
          </a:xfrm>
          <a:prstGeom prst="rect">
            <a:avLst>
              <a:gd name="adj" fmla="val 2192"/>
            </a:avLst>
          </a:prstGeom>
          <a:solidFill>
            <a:srgbClr val="12182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83880" y="1874520"/>
            <a:ext cx="2880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6B6D4"/>
                </a:solidFill>
              </a:rPr>
              <a:t>External &amp; Partner Portals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8183880" y="2286000"/>
            <a:ext cx="288036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FFFFFF"/>
                </a:solidFill>
              </a:rPr>
              <a:t>• External Agent: Sub-agents, referrals &amp; commission ledger.</a:t>
            </a:r>
            <a:endParaRPr lang="en-US" sz="10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FFFFFF"/>
                </a:solidFill>
              </a:rPr>
              <a:t>• University Partner: Cohort review &amp; direct admissions decisions.</a:t>
            </a:r>
            <a:endParaRPr lang="en-US" sz="10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FFFFFF"/>
                </a:solidFill>
              </a:rPr>
              <a:t>• Student / Applicant: Milestone tracker, doc vault &amp; profile edit.</a:t>
            </a:r>
            <a:endParaRPr lang="en-US" sz="10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FFFFFF"/>
                </a:solidFill>
              </a:rPr>
              <a:t>• Support User: Helpdesk ticketing, knowledge base &amp; SLAs.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3200400" cy="292608"/>
          </a:xfrm>
          <a:prstGeom prst="rect">
            <a:avLst>
              <a:gd name="adj" fmla="val 18750"/>
            </a:avLst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65760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B981"/>
                </a:solidFill>
              </a:rPr>
              <a:t>SECTION 3.1 &amp; 3.2: AUTH &amp; TENANCY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749808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3.1 - 3.2 Authentication &amp; Multi-Tenant Architecture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23444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identity management, SSO, and strict organizational isolation.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691640"/>
            <a:ext cx="5120640" cy="4434840"/>
          </a:xfrm>
          <a:prstGeom prst="rect">
            <a:avLst>
              <a:gd name="adj" fmla="val 1649"/>
            </a:avLst>
          </a:prstGeom>
          <a:solidFill>
            <a:srgbClr val="121824"/>
          </a:solidFill>
          <a:ln w="12700">
            <a:solidFill>
              <a:srgbClr val="1F29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18745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</a:rPr>
              <a:t>§3.1 Authentication &amp; Security Controls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2286000"/>
            <a:ext cx="45720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Multi-Channel Registration: Staff invitation, agent onboarding, student signup.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Multi-Provider Auth: Email/Password, Google, Microsoft, Organization SSO.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Multi-Factor Authentication (MFA) &amp; configurable password complexity.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Session Management: Device history, IP tracking, automatic session timeout.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Account Lockout: Brute-force protection with configurable failed attempt limit.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Super Admin Impersonation: Authorized user impersonation with audit trails.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126480" y="1691640"/>
            <a:ext cx="5120640" cy="4434840"/>
          </a:xfrm>
          <a:prstGeom prst="rect">
            <a:avLst>
              <a:gd name="adj" fmla="val 1649"/>
            </a:avLst>
          </a:prstGeom>
          <a:solidFill>
            <a:srgbClr val="121824"/>
          </a:solidFill>
          <a:ln w="12700">
            <a:solidFill>
              <a:srgbClr val="1F29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0" y="18745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</a:rPr>
              <a:t>§3.2 Multi-Tenant Organization Structure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0" y="2286000"/>
            <a:ext cx="45720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Logical Tenant Isolation: Isolated users, leads, applications, documents &amp; settings.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Multi-Branch Hierarchy: Branch offices (London, Manchester, Delhi, Sydney).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Per-Tenant Customization: Name, logo, custom domain/subdomain, theme.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Localization Tokens: Timezone, currency (USD, GBP, AUD, EUR), date formats.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Business Rules: Custom working hours, public holidays &amp; academic cycles.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Subscription Controls: User seats, storage quotas &amp; Gemini AI credits.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3200400" cy="292608"/>
          </a:xfrm>
          <a:prstGeom prst="rect">
            <a:avLst>
              <a:gd name="adj" fmla="val 18750"/>
            </a:avLst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65760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B981"/>
                </a:solidFill>
              </a:rPr>
              <a:t>SECTION 3.3 &amp; 3.4: RBAC &amp; ANALYTICS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749808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3.3 - 3.4 Granular RBAC &amp; Analytics Engine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23444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Fine-grained permission matrices and comprehensive business intelligence dashboards.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691640"/>
            <a:ext cx="5120640" cy="4434840"/>
          </a:xfrm>
          <a:prstGeom prst="rect">
            <a:avLst>
              <a:gd name="adj" fmla="val 1649"/>
            </a:avLst>
          </a:prstGeom>
          <a:solidFill>
            <a:srgbClr val="121824"/>
          </a:solidFill>
          <a:ln w="12700">
            <a:solidFill>
              <a:srgbClr val="1F29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18745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55F7"/>
                </a:solidFill>
              </a:rPr>
              <a:t>§3.3 Granular Access Control (RBAC)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2286000"/>
            <a:ext cx="45720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5-Level Permissions: Module, Screen, Record, Field &amp; Action level permissions.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Scoped Constraints: Restrict users to assigned office, team, countries or universities.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Approval Gates: Dual-control approval required for sensitive overrides.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Time-Bound Access: Temporary role grants with automated expiration dates.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Segregation of Duties (SoD): Prevents counsellors from approving own commissions.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Audit Trail: Every permission and role change logged permanently in Firestore.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126480" y="1691640"/>
            <a:ext cx="5120640" cy="4434840"/>
          </a:xfrm>
          <a:prstGeom prst="rect">
            <a:avLst>
              <a:gd name="adj" fmla="val 1649"/>
            </a:avLst>
          </a:prstGeom>
          <a:solidFill>
            <a:srgbClr val="121824"/>
          </a:solidFill>
          <a:ln w="12700">
            <a:solidFill>
              <a:srgbClr val="1F29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0" y="18745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B6D4"/>
                </a:solidFill>
              </a:rPr>
              <a:t>§3.4 Real-Time Analytics &amp; Dashboards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0" y="2286000"/>
            <a:ext cx="45720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Core Funnel KPIs: Fresh leads, active apps, pending docs, offers &amp; enrolments.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Conversion Percentages: Lead-to-application and offer-to-enrolment ratios.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Workload &amp; Ageing: Counsellor caseload heatmap &amp; application turnaround time.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Dimensional Breakdowns: By country, university, intake, lead source &amp; office.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Interactive Capabilities: Multi-filter slicing, metric drill-down &amp; CSV exports.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Anomaly Alerts: Instant notifications on conversion drops or missed SLA targets.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3200400" cy="292608"/>
          </a:xfrm>
          <a:prstGeom prst="rect">
            <a:avLst>
              <a:gd name="adj" fmla="val 18750"/>
            </a:avLst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65760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B981"/>
                </a:solidFill>
              </a:rPr>
              <a:t>SECTION 3.5: LEAD MANAGEMENT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749808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3.5 Lead Ingestion, Scoring &amp; Auto-Routing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23444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Omnichannel lead capture with algorithmic scoring and automated duplicate detection.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691640"/>
            <a:ext cx="5120640" cy="4434840"/>
          </a:xfrm>
          <a:prstGeom prst="rect">
            <a:avLst>
              <a:gd name="adj" fmla="val 1649"/>
            </a:avLst>
          </a:prstGeom>
          <a:solidFill>
            <a:srgbClr val="121824"/>
          </a:solidFill>
          <a:ln w="12700">
            <a:solidFill>
              <a:srgbClr val="1F29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18745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</a:rPr>
              <a:t>Lead Capture &amp; Deduplication Engine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2286000"/>
            <a:ext cx="45720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Omnichannel Ingestion: Web forms, Facebook/IG ads, Google Ads, CSV, WhatsApp, API.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Comprehensive Lead Dossier: Contact, nationality, residence, budget, intake, interest.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Algorithmic Duplicate Detection: Multi-field fuzzy clustering (Email, Phone, Passport).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1-Click Cluster Merge: Consolidates duplicate inquiries into a single master lead.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Complete Activity History: Logs every phone call, WhatsApp, email, meeting &amp; note.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126480" y="1691640"/>
            <a:ext cx="5120640" cy="4434840"/>
          </a:xfrm>
          <a:prstGeom prst="rect">
            <a:avLst>
              <a:gd name="adj" fmla="val 1649"/>
            </a:avLst>
          </a:prstGeom>
          <a:solidFill>
            <a:srgbClr val="121824"/>
          </a:solidFill>
          <a:ln w="12700">
            <a:solidFill>
              <a:srgbClr val="1F29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0" y="18745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</a:rPr>
              <a:t>Lead Pipeline &amp; Automated Routing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0" y="2286000"/>
            <a:ext cx="45720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Configurable Pipeline Stages: New ➔ Contacted ➔ Qualified ➔ Counselling ➔ Converted.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Engagement Lead Scoring: Real-time calculation based on profile &amp; activity frequency.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Intelligent Lead Router: Workload-balanced, round-robin, geographic &amp; program routing.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Lost Lead Governance: Categorized lost reasons (Budget, Visa Refusal, Competitor).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Bulk Operations: Mass counsellor reassignment, tagging, archiving &amp; communications.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3200400" cy="292608"/>
          </a:xfrm>
          <a:prstGeom prst="rect">
            <a:avLst>
              <a:gd name="adj" fmla="val 18750"/>
            </a:avLst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65760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B981"/>
                </a:solidFill>
              </a:rPr>
              <a:t>SECTION 3.6: STUDENT PROFILE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749808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3.6 Student &amp; Applicant 360° Profile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23444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Comprehensive applicant repository with dynamic completeness scoring.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691640"/>
            <a:ext cx="3337560" cy="4434840"/>
          </a:xfrm>
          <a:prstGeom prst="rect">
            <a:avLst>
              <a:gd name="adj" fmla="val 2192"/>
            </a:avLst>
          </a:prstGeom>
          <a:solidFill>
            <a:srgbClr val="121824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1874520"/>
            <a:ext cx="2880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B981"/>
                </a:solidFill>
              </a:rPr>
              <a:t>Personal &amp; Academic History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960120" y="2286000"/>
            <a:ext cx="288036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FFFFFF"/>
                </a:solidFill>
              </a:rPr>
              <a:t>• Legal &amp; preferred name, DOB, gender, nationality, passport details.</a:t>
            </a:r>
            <a:endParaRPr lang="en-US" sz="10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FFFFFF"/>
                </a:solidFill>
              </a:rPr>
              <a:t>• Emergency contact, disability &amp; accessibility accommodations.</a:t>
            </a:r>
            <a:endParaRPr lang="en-US" sz="10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FFFFFF"/>
                </a:solidFill>
              </a:rPr>
              <a:t>• Institution history, GPA/Grades, graduation year, backlogs &amp; gap explanations.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43400" y="1691640"/>
            <a:ext cx="3337560" cy="4434840"/>
          </a:xfrm>
          <a:prstGeom prst="rect">
            <a:avLst>
              <a:gd name="adj" fmla="val 2192"/>
            </a:avLst>
          </a:prstGeom>
          <a:solidFill>
            <a:srgbClr val="12182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0" y="1874520"/>
            <a:ext cx="2880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6B6D4"/>
                </a:solidFill>
              </a:rPr>
              <a:t>English &amp; Employment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572000" y="2286000"/>
            <a:ext cx="288036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FFFFFF"/>
                </a:solidFill>
              </a:rPr>
              <a:t>• Standardized Tests: IELTS, PTE, TOEFL, Duolingo, MOI evidence.</a:t>
            </a:r>
            <a:endParaRPr lang="en-US" sz="10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FFFFFF"/>
                </a:solidFill>
              </a:rPr>
              <a:t>• Test dates, component band scores (L/R/W/S), overall score &amp; TRF numbers.</a:t>
            </a:r>
            <a:endParaRPr lang="en-US" sz="10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FFFFFF"/>
                </a:solidFill>
              </a:rPr>
              <a:t>• Work history: Employer, designation, duration, salary &amp; gap justification.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955280" y="1691640"/>
            <a:ext cx="3337560" cy="4434840"/>
          </a:xfrm>
          <a:prstGeom prst="rect">
            <a:avLst>
              <a:gd name="adj" fmla="val 2192"/>
            </a:avLst>
          </a:prstGeom>
          <a:solidFill>
            <a:srgbClr val="121824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83880" y="1874520"/>
            <a:ext cx="2880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59E0B"/>
                </a:solidFill>
              </a:rPr>
              <a:t>Financial &amp; Declarations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8183880" y="2286000"/>
            <a:ext cx="288036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FFFFFF"/>
                </a:solidFill>
              </a:rPr>
              <a:t>• Financial Sponsor: Name, relationship, annual income, liquid funds &amp; bank proof.</a:t>
            </a:r>
            <a:endParaRPr lang="en-US" sz="10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FFFFFF"/>
                </a:solidFill>
              </a:rPr>
              <a:t>• Declarations: Previous visa refusals, immigration history, criminal declarations.</a:t>
            </a:r>
            <a:endParaRPr lang="en-US" sz="10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FFFFFF"/>
                </a:solidFill>
              </a:rPr>
              <a:t>• Dynamic Profile Completeness: Real-time 0-100% calculation identifying missing data.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3200400" cy="292608"/>
          </a:xfrm>
          <a:prstGeom prst="rect">
            <a:avLst>
              <a:gd name="adj" fmla="val 18750"/>
            </a:avLst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65760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B981"/>
                </a:solidFill>
              </a:rPr>
              <a:t>SECTION 3.7 &amp; 3.8: APPLICATION WORKFLOW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749808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3.7 - 3.8 Application Lifecycle &amp; Workflow Engine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23444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Multi-application support, stage transitions, and automated SLA rules.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691640"/>
            <a:ext cx="5120640" cy="4434840"/>
          </a:xfrm>
          <a:prstGeom prst="rect">
            <a:avLst>
              <a:gd name="adj" fmla="val 1649"/>
            </a:avLst>
          </a:prstGeom>
          <a:solidFill>
            <a:srgbClr val="121824"/>
          </a:solidFill>
          <a:ln w="12700">
            <a:solidFill>
              <a:srgbClr val="1F29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18745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</a:rPr>
              <a:t>§3.7 Application Management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2286000"/>
            <a:ext cx="45720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Multi-Application Architecture: 1 student profile links to multiple university apps.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Unique Identifiers: Auto-generated sequential tracking numbers (`APP-2026-XXXX`).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Deep Linking: Mapped to Student, University, Campus, Programme &amp; Intake Season.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1-Click Application Cloner: Duplicate applications across backup universities.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Offer Management: Conditional, Unconditional, CAS Issued, Enrolled, Withdrawn, Rejected.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126480" y="1691640"/>
            <a:ext cx="5120640" cy="4434840"/>
          </a:xfrm>
          <a:prstGeom prst="rect">
            <a:avLst>
              <a:gd name="adj" fmla="val 1649"/>
            </a:avLst>
          </a:prstGeom>
          <a:solidFill>
            <a:srgbClr val="121824"/>
          </a:solidFill>
          <a:ln w="12700">
            <a:solidFill>
              <a:srgbClr val="1F29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0" y="18745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55F7"/>
                </a:solidFill>
              </a:rPr>
              <a:t>§3.8 Configurable Workflow Engine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0" y="2286000"/>
            <a:ext cx="45720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Configurable Stage Pipelines: Custom stages per country or partner institution.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Automated Stage Triggers: Auto-creates tasks, sends student emails on stage change.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SLA Turnaround Monitoring: Warning alerts on stalled applications exceeding SLA.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Stage Transition Conditions: Blocks stage progression if mandatory docs are missing.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Comprehensive Audit Log: Every status transition records timestamp, actor &amp; notes.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3200400" cy="292608"/>
          </a:xfrm>
          <a:prstGeom prst="rect">
            <a:avLst>
              <a:gd name="adj" fmla="val 18750"/>
            </a:avLst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65760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B981"/>
                </a:solidFill>
              </a:rPr>
              <a:t>SECTION 3.9: DOCUMENT MANAGEMENT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749808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3.9 Document Vault, OCR &amp; QA Verification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23444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 multi-format repository with Gemini Vision OCR and verification workflows.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691640"/>
            <a:ext cx="5120640" cy="4434840"/>
          </a:xfrm>
          <a:prstGeom prst="rect">
            <a:avLst>
              <a:gd name="adj" fmla="val 1649"/>
            </a:avLst>
          </a:prstGeom>
          <a:solidFill>
            <a:srgbClr val="121824"/>
          </a:solidFill>
          <a:ln w="12700">
            <a:solidFill>
              <a:srgbClr val="1F29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18745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B6D4"/>
                </a:solidFill>
              </a:rPr>
              <a:t>Document Vault &amp; Storage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2286000"/>
            <a:ext cx="45720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Categorized Taxonomy: Passports, Transcripts, Degree Certificates, IELTS, Financials.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Multi-Format Support: PDF, JPG, PNG with secure cloud storage integration.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Version Control: Tracks document replacements, resubmissions &amp; expiry dates.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Missing Document Checker: Highlights outstanding mandatory items per program.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Watermarking &amp; Security: Download permission enforcement and tamper prevention.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126480" y="1691640"/>
            <a:ext cx="5120640" cy="4434840"/>
          </a:xfrm>
          <a:prstGeom prst="rect">
            <a:avLst>
              <a:gd name="adj" fmla="val 1649"/>
            </a:avLst>
          </a:prstGeom>
          <a:solidFill>
            <a:srgbClr val="121824"/>
          </a:solidFill>
          <a:ln w="12700">
            <a:solidFill>
              <a:srgbClr val="1F29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0" y="18745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</a:rPr>
              <a:t>QA Verification &amp; Vision OCR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0" y="2286000"/>
            <a:ext cx="45720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Verification Workflow: Status tracking (Pending ➔ Verified ➔ Rejected with feedback).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Gemini Vision OCR Extractor: Parses transcripts and identity docs automatically.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Metadata Extraction: Reads Name, DOB, GPA, Degree &amp; Institution into profile fields.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Rejection Reason Templates: Instant feedback to students on illegible/invalid files.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Audit Trail: Logs which admissions officer verified each document and when.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3200400" cy="292608"/>
          </a:xfrm>
          <a:prstGeom prst="rect">
            <a:avLst>
              <a:gd name="adj" fmla="val 18750"/>
            </a:avLst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65760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B981"/>
                </a:solidFill>
              </a:rPr>
              <a:t>SECTION 3.10 &amp; 3.11: UNIVERSITY &amp; MATCHER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749808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3.10 - 3.11 University Database &amp; Eligibility Matcher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23444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course catalog with Gemini AI recommendation and filtering engine.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691640"/>
            <a:ext cx="5120640" cy="4434840"/>
          </a:xfrm>
          <a:prstGeom prst="rect">
            <a:avLst>
              <a:gd name="adj" fmla="val 1649"/>
            </a:avLst>
          </a:prstGeom>
          <a:solidFill>
            <a:srgbClr val="121824"/>
          </a:solidFill>
          <a:ln w="12700">
            <a:solidFill>
              <a:srgbClr val="1F29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18745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</a:rPr>
              <a:t>§3.10 University &amp; Programme Catalog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2286000"/>
            <a:ext cx="45720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Global Directory: Partner institutions across UK, USA, Canada, Australia &amp; Europe.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Campus &amp; Programme Database: Undergraduate, Postgraduate, Diploma &amp; PhD courses.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Rich Metadata: Annual tuition fees, currency, duration, intake months &amp; deadlines.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Entry Criteria: Minimum GPA, academic requirements, backlogs allowed &amp; work exp.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English Language Criteria: Minimum overall IELTS/PTE and individual band cutoffs.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126480" y="1691640"/>
            <a:ext cx="5120640" cy="4434840"/>
          </a:xfrm>
          <a:prstGeom prst="rect">
            <a:avLst>
              <a:gd name="adj" fmla="val 1649"/>
            </a:avLst>
          </a:prstGeom>
          <a:solidFill>
            <a:srgbClr val="121824"/>
          </a:solidFill>
          <a:ln w="12700">
            <a:solidFill>
              <a:srgbClr val="1F29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0" y="18745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55F7"/>
                </a:solidFill>
              </a:rPr>
              <a:t>§3.11 Gemini AI Course Matcher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0" y="2286000"/>
            <a:ext cx="45720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Multi-Criteria Matching: Evaluates student GPA, English score, budget &amp; destination.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Ranked Recommendations: Outputs top matched courses with quantifiable match %.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Admission Likelihood Categorization: Flags courses as High, Medium, or Reach.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Rationale Breakdown: Explains why each course matches the applicant's profile.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1-Click Application Drafting: Initiates university application directly from recommendation.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3200400" cy="292608"/>
          </a:xfrm>
          <a:prstGeom prst="rect">
            <a:avLst>
              <a:gd name="adj" fmla="val 18750"/>
            </a:avLst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65760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B981"/>
                </a:solidFill>
              </a:rPr>
              <a:t>SECTION 3.12: COUNSELLOR WORKSPACE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749808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3.12 Counsellor Workspace &amp; Task Management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23444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portal for frontline student engagement, reminders, and daily workflows.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691640"/>
            <a:ext cx="5120640" cy="4434840"/>
          </a:xfrm>
          <a:prstGeom prst="rect">
            <a:avLst>
              <a:gd name="adj" fmla="val 1649"/>
            </a:avLst>
          </a:prstGeom>
          <a:solidFill>
            <a:srgbClr val="121824"/>
          </a:solidFill>
          <a:ln w="12700">
            <a:solidFill>
              <a:srgbClr val="1F29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18745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B6D4"/>
                </a:solidFill>
              </a:rPr>
              <a:t>Counsellor Portal Capabilities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2286000"/>
            <a:ext cx="45720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My Assigned Leads &amp; Students: Scoped queues showing active student cases.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Interaction Logging: 1-click logging of phone calls, WhatsApp chats, emails &amp; notes.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Pipeline Management: Move leads through stages with reason capture for lost leads.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Student Conversion: 1-click transition of qualified leads to formal student profiles.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Document Upload: Direct document attachment on behalf of students during counselling.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126480" y="1691640"/>
            <a:ext cx="5120640" cy="4434840"/>
          </a:xfrm>
          <a:prstGeom prst="rect">
            <a:avLst>
              <a:gd name="adj" fmla="val 1649"/>
            </a:avLst>
          </a:prstGeom>
          <a:solidFill>
            <a:srgbClr val="121824"/>
          </a:solidFill>
          <a:ln w="12700">
            <a:solidFill>
              <a:srgbClr val="1F29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0" y="18745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</a:rPr>
              <a:t>Task Management &amp; Calendar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0" y="2286000"/>
            <a:ext cx="45720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Task Queue: Filter by priority (Urgent, High, Medium, Low) and due date.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Linked Entities: Tasks link directly to Students, Leads, or Applications.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Recurring Tasks: Automated follow-up task generation based on lead stage.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Calendar Sync: Schedule counselling appointments and university interview sessions.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Workload Protection: Scoped views prevent unauthorized data access across teams.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3200400" cy="292608"/>
          </a:xfrm>
          <a:prstGeom prst="rect">
            <a:avLst>
              <a:gd name="adj" fmla="val 18750"/>
            </a:avLst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65760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B981"/>
                </a:solidFill>
              </a:rPr>
              <a:t>SECTION 3.13: TEAM LEADER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749808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3.13 Team Leader Management &amp; Allocation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23444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Branch operations, team supervision, workload balancing, and SLA tracking.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691640"/>
            <a:ext cx="5120640" cy="4434840"/>
          </a:xfrm>
          <a:prstGeom prst="rect">
            <a:avLst>
              <a:gd name="adj" fmla="val 1649"/>
            </a:avLst>
          </a:prstGeom>
          <a:solidFill>
            <a:srgbClr val="121824"/>
          </a:solidFill>
          <a:ln w="12700">
            <a:solidFill>
              <a:srgbClr val="1F29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18745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</a:rPr>
              <a:t>Supervision &amp; Caseload Balancing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2286000"/>
            <a:ext cx="45720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Team Member Overview: Real-time status of all counsellors within the branch/team.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Caseload Heatmap: Identifies overloaded and underutilized counsellors.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1-Click Application Reallocation: Reassign incoming applications to balance workload.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Unassigned Application Pool: Central queue of unallocated cases for instant distribution.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Team Task Monitoring: View, reassign, or escalate stalled team action items.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126480" y="1691640"/>
            <a:ext cx="5120640" cy="4434840"/>
          </a:xfrm>
          <a:prstGeom prst="rect">
            <a:avLst>
              <a:gd name="adj" fmla="val 1649"/>
            </a:avLst>
          </a:prstGeom>
          <a:solidFill>
            <a:srgbClr val="121824"/>
          </a:solidFill>
          <a:ln w="12700">
            <a:solidFill>
              <a:srgbClr val="1F29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0" y="18745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</a:rPr>
              <a:t>Performance &amp; SLA Governance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0" y="2286000"/>
            <a:ext cx="45720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Real-Time Conversion Funnel: Stage-by-stage progression across the entire team.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SLA Response Monitoring: Flags inquiries exceeding first-contact response thresholds.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Counsellor Performance Scorecards: Conversion rates, applications lodged &amp; offers.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Branch Performance Comparison: Benchmark branch conversion against global targets.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Optimistic UI Updates: Immediate visual feedback on reassignments backed by Firestore.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3200400" cy="292608"/>
          </a:xfrm>
          <a:prstGeom prst="rect">
            <a:avLst>
              <a:gd name="adj" fmla="val 18750"/>
            </a:avLst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65760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B981"/>
                </a:solidFill>
              </a:rPr>
              <a:t>SECTION 3.14 &amp; 3.17: ADMISSIONS &amp; UNIVERSITY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749808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3.14 &amp; 3.17 Admissions &amp; University Partner Portal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23444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Institutional assessment desk and dedicated university portal for direct decisions.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691640"/>
            <a:ext cx="5120640" cy="4434840"/>
          </a:xfrm>
          <a:prstGeom prst="rect">
            <a:avLst>
              <a:gd name="adj" fmla="val 1649"/>
            </a:avLst>
          </a:prstGeom>
          <a:solidFill>
            <a:srgbClr val="121824"/>
          </a:solidFill>
          <a:ln w="12700">
            <a:solidFill>
              <a:srgbClr val="1F29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18745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</a:rPr>
              <a:t>§3.14 Admissions Officer Desk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2286000"/>
            <a:ext cx="45720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Application Verification Desk: Comprehensive audit of submitted academic files.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Document QA Actions: Mark individual files as Verified, Pending, or Rejected.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Decision Management: Issue Conditional Offer, Unconditional Offer, Deferral, Rejection.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Condition Tracking: Manage required items (e.g. final semester transcript, tuition deposit).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Application Cloner: Clone verified profiles to alternative partner universities.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126480" y="1691640"/>
            <a:ext cx="5120640" cy="4434840"/>
          </a:xfrm>
          <a:prstGeom prst="rect">
            <a:avLst>
              <a:gd name="adj" fmla="val 1649"/>
            </a:avLst>
          </a:prstGeom>
          <a:solidFill>
            <a:srgbClr val="121824"/>
          </a:solidFill>
          <a:ln w="12700">
            <a:solidFill>
              <a:srgbClr val="1F29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0" y="18745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B6D4"/>
                </a:solidFill>
              </a:rPr>
              <a:t>§3.17 University Partner Portal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0" y="2286000"/>
            <a:ext cx="45720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Dedicated Institutional Login: Branded portal for partner university representatives.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Cohort Dossier Review: Access student applications lodged specifically for their institution.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Direct Decision Lodgement: Universities record offers and upload official offer letters.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CAS / I-20 Document Issuance: Track visa support documents issued by the university.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Direct Collaboration: Reduces admission turnaround from weeks to days.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3200400" cy="292608"/>
          </a:xfrm>
          <a:prstGeom prst="rect">
            <a:avLst>
              <a:gd name="adj" fmla="val 18750"/>
            </a:avLst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65760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B981"/>
                </a:solidFill>
              </a:rPr>
              <a:t>SECTION 3.15: VISA MANAGEMENT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749808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3.15 Visa Processing &amp; Gemini Risk Engine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23444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Embassy dossier tracking, CAS/I-20 checklists, and AI visa approval probability.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691640"/>
            <a:ext cx="5120640" cy="4434840"/>
          </a:xfrm>
          <a:prstGeom prst="rect">
            <a:avLst>
              <a:gd name="adj" fmla="val 1649"/>
            </a:avLst>
          </a:prstGeom>
          <a:solidFill>
            <a:srgbClr val="121824"/>
          </a:solidFill>
          <a:ln w="12700">
            <a:solidFill>
              <a:srgbClr val="1F29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18745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55F7"/>
                </a:solidFill>
              </a:rPr>
              <a:t>Visa Case Management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2286000"/>
            <a:ext cx="45720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Multi-Country Visa Tracking: UK Student Visa (Tier 4), Canada SDS, USA F-1, Australia.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Pre-Departure Checklist: CAS/I-20 verification, TB certificate, biometric appointment.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Financial Adequacy Audits: Liquid funds calculation, sponsor affidavits &amp; 28-day rule.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Mock Interview Scheduling: Prep sessions for embassy interviews with outcome notes.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Post-Visa Support: Flight bookings, accommodation confirmation &amp; arrival briefing.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126480" y="1691640"/>
            <a:ext cx="5120640" cy="4434840"/>
          </a:xfrm>
          <a:prstGeom prst="rect">
            <a:avLst>
              <a:gd name="adj" fmla="val 1649"/>
            </a:avLst>
          </a:prstGeom>
          <a:solidFill>
            <a:srgbClr val="121824"/>
          </a:solidFill>
          <a:ln w="12700">
            <a:solidFill>
              <a:srgbClr val="1F29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0" y="18745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</a:rPr>
              <a:t>Gemini AI Visa Risk Calculator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0" y="2286000"/>
            <a:ext cx="45720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Multi-Factor Risk Assessment: Evaluates study gap, finances, English score &amp; country.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Approval Probability Score: Quantifiable 0-100% predictive approval probability.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Risk Classification: Categorizes case risk level as Low, Medium, or High.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Risk Factor Identification: Pinpoints potential rejection triggers before submission.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Actionable Mitigation Checklist: Step-by-step guidance to strengthen the visa file.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3200400" cy="292608"/>
          </a:xfrm>
          <a:prstGeom prst="rect">
            <a:avLst>
              <a:gd name="adj" fmla="val 18750"/>
            </a:avLst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65760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B981"/>
                </a:solidFill>
              </a:rPr>
              <a:t>SECTION 3.16: AGENT PORTAL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749808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3.16 External Agent &amp; Partner Network Portal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23444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portal for recruitment partners, sub-agents, and commission tracking.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691640"/>
            <a:ext cx="5120640" cy="4434840"/>
          </a:xfrm>
          <a:prstGeom prst="rect">
            <a:avLst>
              <a:gd name="adj" fmla="val 1649"/>
            </a:avLst>
          </a:prstGeom>
          <a:solidFill>
            <a:srgbClr val="121824"/>
          </a:solidFill>
          <a:ln w="12700">
            <a:solidFill>
              <a:srgbClr val="1F29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18745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B6D4"/>
                </a:solidFill>
              </a:rPr>
              <a:t>Agent Operations &amp; Referrals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2286000"/>
            <a:ext cx="45720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Self-Service Agent Portal: Dedicated login at `/agent/dashboard` for global recruiters.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Unique Referral Link Generator: Copy trackable registration links for student acquisition.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Direct Student Lodgement: Agents submit student referrals directly into agency pipeline.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Multi-Tier Sub-Agent Hierarchy: Manage branch agents and downstream sub-recruiters.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Application Milestone Visibility: Track referred student progress without calling staff.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126480" y="1691640"/>
            <a:ext cx="5120640" cy="4434840"/>
          </a:xfrm>
          <a:prstGeom prst="rect">
            <a:avLst>
              <a:gd name="adj" fmla="val 1649"/>
            </a:avLst>
          </a:prstGeom>
          <a:solidFill>
            <a:srgbClr val="121824"/>
          </a:solidFill>
          <a:ln w="12700">
            <a:solidFill>
              <a:srgbClr val="1F29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0" y="18745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</a:rPr>
              <a:t>Commission Transparency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0" y="2286000"/>
            <a:ext cx="45720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Commission Ledger: Real-time overview of earned, pending, and paid commissions.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Automated Calculation: Commission amounts linked to enrolled students and agreements.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Payout Approval Workflow: Status lifecycle (Eligible ➔ Approved ➔ Paid).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Statement Generation: Downloadable accounting statements and invoice matching.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Performance Metrics: Conversion rate rankings and high-performing partner badges.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3200400" cy="292608"/>
          </a:xfrm>
          <a:prstGeom prst="rect">
            <a:avLst>
              <a:gd name="adj" fmla="val 18750"/>
            </a:avLst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65760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B981"/>
                </a:solidFill>
              </a:rPr>
              <a:t>SECTION 3.18: STUDENT PORTAL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749808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3.18 Student Self-Service Portal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23444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Empowering international students with milestone visibility and mobile document upload.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691640"/>
            <a:ext cx="5120640" cy="4434840"/>
          </a:xfrm>
          <a:prstGeom prst="rect">
            <a:avLst>
              <a:gd name="adj" fmla="val 1649"/>
            </a:avLst>
          </a:prstGeom>
          <a:solidFill>
            <a:srgbClr val="121824"/>
          </a:solidFill>
          <a:ln w="12700">
            <a:solidFill>
              <a:srgbClr val="1F29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18745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</a:rPr>
              <a:t>Student Experience Features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2286000"/>
            <a:ext cx="45720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Visual Progress Timeline: Interactive milestone tracker (Lodged ➔ Offer ➔ Visa ➔ Travel).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Mobile-Optimized Document Vault: Upload passports and mark sheets from any phone.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Profile Self-Service (`/student/profile`): Edit contact details and academic background.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Direct Support Request Desk: Submit help inquiries directly to assigned counsellor.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Task Checklist: View outstanding tasks and deadlines assigned by the agency.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126480" y="1691640"/>
            <a:ext cx="5120640" cy="4434840"/>
          </a:xfrm>
          <a:prstGeom prst="rect">
            <a:avLst>
              <a:gd name="adj" fmla="val 1649"/>
            </a:avLst>
          </a:prstGeom>
          <a:solidFill>
            <a:srgbClr val="121824"/>
          </a:solidFill>
          <a:ln w="12700">
            <a:solidFill>
              <a:srgbClr val="1F29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0" y="18745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B6D4"/>
                </a:solidFill>
              </a:rPr>
              <a:t>Business &amp; Operational Impact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0" y="2286000"/>
            <a:ext cx="45720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Anxiety Reduction: Total transparency over application progress reassures students.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70% Reduction in Status Calls: Students self-serve application status 24/7.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Faster Document Turnaround: Push notifications prompt instant missing file uploads.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GDPR Compliance: Students can view and update their own stored profile data.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Multi-Device Accessibility: Responsive Liquid Glass UI on iOS, Android &amp; Desktop.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3200400" cy="292608"/>
          </a:xfrm>
          <a:prstGeom prst="rect">
            <a:avLst>
              <a:gd name="adj" fmla="val 18750"/>
            </a:avLst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65760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B981"/>
                </a:solidFill>
              </a:rPr>
              <a:t>SECTION 3.19: COMMUNICATIONS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749808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3.19 Omnichannel Communication Engine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23444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messaging infrastructure across Email, WhatsApp, SMS, and templates.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691640"/>
            <a:ext cx="5120640" cy="4434840"/>
          </a:xfrm>
          <a:prstGeom prst="rect">
            <a:avLst>
              <a:gd name="adj" fmla="val 1649"/>
            </a:avLst>
          </a:prstGeom>
          <a:solidFill>
            <a:srgbClr val="121824"/>
          </a:solidFill>
          <a:ln w="12700">
            <a:solidFill>
              <a:srgbClr val="1F29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18745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</a:rPr>
              <a:t>Communication Channels &amp; Triggers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2286000"/>
            <a:ext cx="45720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Multi-Channel Gateway: Centralized sending across Email, WhatsApp &amp; SMS.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Dynamic Merge Fields: Personalizes messages with `{StudentName}`, `{University}`, `{Stage}`.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Automated Stage Notifications: Trigger automated emails upon offer or visa updates.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Scheduled Broadcasts: Schedule communication blasts for intake deadlines &amp; fairs.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Central Communication Log: Every sent email and message recorded in student profile.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126480" y="1691640"/>
            <a:ext cx="5120640" cy="4434840"/>
          </a:xfrm>
          <a:prstGeom prst="rect">
            <a:avLst>
              <a:gd name="adj" fmla="val 1649"/>
            </a:avLst>
          </a:prstGeom>
          <a:solidFill>
            <a:srgbClr val="121824"/>
          </a:solidFill>
          <a:ln w="12700">
            <a:solidFill>
              <a:srgbClr val="1F29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0" y="18745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55F7"/>
                </a:solidFill>
              </a:rPr>
              <a:t>Email Template Builder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0" y="2286000"/>
            <a:ext cx="45720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Template Repository: Pre-built templates for Welcome, Offer Notice, Visa Checklist.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Rich Text &amp; HTML Support: Professional branded agency letterheads and styles.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Channel Categorization: Specific template categories for Marketing, Operations &amp; Finance.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Role-Based Permissions: Restrict who can create, edit, or broadcast templates.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Activity Attribution: Logs author, timestamp, and target recipient for every dispatch.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3200400" cy="292608"/>
          </a:xfrm>
          <a:prstGeom prst="rect">
            <a:avLst>
              <a:gd name="adj" fmla="val 18750"/>
            </a:avLst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65760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B981"/>
                </a:solidFill>
              </a:rPr>
              <a:t>SECTION 3.20: AI SUITE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749808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3.20 Gemini 2.0 Flash AI Intelligence Suite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23444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client-side AI tools embedded directly in Topbar and operational modules.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691640"/>
            <a:ext cx="5120640" cy="2103120"/>
          </a:xfrm>
          <a:prstGeom prst="rect">
            <a:avLst>
              <a:gd name="adj" fmla="val 3478"/>
            </a:avLst>
          </a:prstGeom>
          <a:solidFill>
            <a:srgbClr val="121824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187452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</a:rPr>
              <a:t>1. AI Course Matcher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2240280"/>
            <a:ext cx="457200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FFFFFF"/>
                </a:solidFill>
              </a:rPr>
              <a:t>• Evaluates GPA, budget &amp; destination.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FFFFFF"/>
                </a:solidFill>
              </a:rPr>
              <a:t>• Outputs ranked courses with match %.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FFFFFF"/>
                </a:solidFill>
              </a:rPr>
              <a:t>• High / Medium / Reach likelihood.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FFFFFF"/>
                </a:solidFill>
              </a:rPr>
              <a:t>• 1-Click Application Drafting.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126480" y="1691640"/>
            <a:ext cx="5120640" cy="2103120"/>
          </a:xfrm>
          <a:prstGeom prst="rect">
            <a:avLst>
              <a:gd name="adj" fmla="val 3478"/>
            </a:avLst>
          </a:prstGeom>
          <a:solidFill>
            <a:srgbClr val="12182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0" y="187452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B6D4"/>
                </a:solidFill>
              </a:rPr>
              <a:t>2. AI SOP Drafter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0" y="2240280"/>
            <a:ext cx="457200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FFFFFF"/>
                </a:solidFill>
              </a:rPr>
              <a:t>• Synthesizes academic background.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FFFFFF"/>
                </a:solidFill>
              </a:rPr>
              <a:t>• Generates 500-word university SOP.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FFFFFF"/>
                </a:solidFill>
              </a:rPr>
              <a:t>• Structured paragraphs &amp; motivations.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FFFFFF"/>
                </a:solidFill>
              </a:rPr>
              <a:t>• Word count &amp; highlight extraction.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31520" y="3931920"/>
            <a:ext cx="5120640" cy="2103120"/>
          </a:xfrm>
          <a:prstGeom prst="rect">
            <a:avLst>
              <a:gd name="adj" fmla="val 3478"/>
            </a:avLst>
          </a:prstGeom>
          <a:solidFill>
            <a:srgbClr val="121824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5840" y="41148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</a:rPr>
              <a:t>3. AI Visa Risk Calculator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05840" y="4480560"/>
            <a:ext cx="457200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FFFFFF"/>
                </a:solidFill>
              </a:rPr>
              <a:t>• Assesses study gap, funds &amp; scores.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FFFFFF"/>
                </a:solidFill>
              </a:rPr>
              <a:t>• Outputs Approval Probability (0-100%).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FFFFFF"/>
                </a:solidFill>
              </a:rPr>
              <a:t>• Identifies hidden rejection risks.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FFFFFF"/>
                </a:solidFill>
              </a:rPr>
              <a:t>• Tailored pre-embassy checklist.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26480" y="3931920"/>
            <a:ext cx="5120640" cy="2103120"/>
          </a:xfrm>
          <a:prstGeom prst="rect">
            <a:avLst>
              <a:gd name="adj" fmla="val 3478"/>
            </a:avLst>
          </a:prstGeom>
          <a:solidFill>
            <a:srgbClr val="121824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0" y="41148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55F7"/>
                </a:solidFill>
              </a:rPr>
              <a:t>4. Document OCR &amp; Readiness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00800" y="4480560"/>
            <a:ext cx="457200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FFFFFF"/>
                </a:solidFill>
              </a:rPr>
              <a:t>• Vision AI parses transcript/passport.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FFFFFF"/>
                </a:solidFill>
              </a:rPr>
              <a:t>• Auto-drafts student Firestore profiles.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FFFFFF"/>
                </a:solidFill>
              </a:rPr>
              <a:t>• Readiness Auditor scores app 0-100%.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FFFFFF"/>
                </a:solidFill>
              </a:rPr>
              <a:t>• Highlights missing mandatory files.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3200400" cy="292608"/>
          </a:xfrm>
          <a:prstGeom prst="rect">
            <a:avLst>
              <a:gd name="adj" fmla="val 18750"/>
            </a:avLst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65760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B981"/>
                </a:solidFill>
              </a:rPr>
              <a:t>SECTION 3.21: CALENDAR &amp; TASKS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749808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3.21 Calendar, Appointments &amp; Task Automation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23444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management, recurring task triggers, and interactive event scheduling.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691640"/>
            <a:ext cx="5120640" cy="4434840"/>
          </a:xfrm>
          <a:prstGeom prst="rect">
            <a:avLst>
              <a:gd name="adj" fmla="val 1649"/>
            </a:avLst>
          </a:prstGeom>
          <a:solidFill>
            <a:srgbClr val="121824"/>
          </a:solidFill>
          <a:ln w="12700">
            <a:solidFill>
              <a:srgbClr val="1F29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18745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B6D4"/>
                </a:solidFill>
              </a:rPr>
              <a:t>Calendar &amp; Appointment Management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2286000"/>
            <a:ext cx="45720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Multi-View Interactive Calendar: Day, Week, and Month scheduling views.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Appointment Types: In-person Counselling, Mock Visa Prep, University Interview.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Lead &amp; Student Association: Calendar appointments link directly to student dossiers.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Multi-Counsellor Scheduling: View branch calendar availability to prevent double-booking.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Automated Reminders: In-app alerts before scheduled consultation sessions.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126480" y="1691640"/>
            <a:ext cx="5120640" cy="4434840"/>
          </a:xfrm>
          <a:prstGeom prst="rect">
            <a:avLst>
              <a:gd name="adj" fmla="val 1649"/>
            </a:avLst>
          </a:prstGeom>
          <a:solidFill>
            <a:srgbClr val="121824"/>
          </a:solidFill>
          <a:ln w="12700">
            <a:solidFill>
              <a:srgbClr val="1F29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0" y="18745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</a:rPr>
              <a:t>Automated Task Triggers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0" y="2286000"/>
            <a:ext cx="45720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Dynamic Task Creation: Auto-generates tasks upon stage changes (e.g. 'Verify CAS').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Priority &amp; SLA Routing: Flags overdue tasks in amber/rose based on deadline.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Multi-Role Assignment: Assign tasks between Counsellor, Admissions, Visa &amp; Finance.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Audit History: Records task creation, completion timestamp, and notes.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Recurring Action Items: Daily, weekly, or intake-cycle recurring reminders.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3200400" cy="292608"/>
          </a:xfrm>
          <a:prstGeom prst="rect">
            <a:avLst>
              <a:gd name="adj" fmla="val 18750"/>
            </a:avLst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65760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B981"/>
                </a:solidFill>
              </a:rPr>
              <a:t>SECTION 3.22: FINANCE ENGINE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749808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3.22 Invoicing, Payments, Refunds &amp; Commissions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23444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Comprehensive multi-currency financial ledger and receipt generation.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691640"/>
            <a:ext cx="5120640" cy="4434840"/>
          </a:xfrm>
          <a:prstGeom prst="rect">
            <a:avLst>
              <a:gd name="adj" fmla="val 1649"/>
            </a:avLst>
          </a:prstGeom>
          <a:solidFill>
            <a:srgbClr val="121824"/>
          </a:solidFill>
          <a:ln w="12700">
            <a:solidFill>
              <a:srgbClr val="1F29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18745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</a:rPr>
              <a:t>Invoicing &amp; Receipt Generation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2286000"/>
            <a:ext cx="45720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Multi-Currency Receivables: Generate invoices in USD, GBP, AUD, CAD, EUR.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Invoice Types: Application Fees, Tuition Deposits, Service Charges, Visa Fees.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1-Click Printable PDF Documents: Formats branded invoices &amp; payment receipts.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Payment Reconciliation: Log Card, Bank Wire, Cash, Cheque &amp; Online Gateway.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Refund Workflow: Submit, review, and approve refund requests with reason capture.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126480" y="1691640"/>
            <a:ext cx="5120640" cy="4434840"/>
          </a:xfrm>
          <a:prstGeom prst="rect">
            <a:avLst>
              <a:gd name="adj" fmla="val 1649"/>
            </a:avLst>
          </a:prstGeom>
          <a:solidFill>
            <a:srgbClr val="121824"/>
          </a:solidFill>
          <a:ln w="12700">
            <a:solidFill>
              <a:srgbClr val="1F29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0" y="18745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</a:rPr>
              <a:t>Agent Commission Management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0" y="2286000"/>
            <a:ext cx="45720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Automated Commission Calculation: Mapped to enrolled student agreements.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Status Lifecycle: Pending ➔ Eligible ➔ Approved ➔ Paid ➔ Reversed.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Statement Generation: Generates accounting statements for external partners.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Financial BI Metrics: Total Paid Revenue, Outstanding Balances, Refund Exposure.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Audit Attribution: Every financial transaction logs author, timestamp &amp; invoice ID.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3200400" cy="292608"/>
          </a:xfrm>
          <a:prstGeom prst="rect">
            <a:avLst>
              <a:gd name="adj" fmla="val 18750"/>
            </a:avLst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65760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B981"/>
                </a:solidFill>
              </a:rPr>
              <a:t>SECTION 3.23: REPORTING &amp; BI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749808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3.23 Reporting &amp; Business Intelligence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23444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Dimensional analytics, conversion metrics, and AI natural language querying.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691640"/>
            <a:ext cx="5120640" cy="4434840"/>
          </a:xfrm>
          <a:prstGeom prst="rect">
            <a:avLst>
              <a:gd name="adj" fmla="val 1649"/>
            </a:avLst>
          </a:prstGeom>
          <a:solidFill>
            <a:srgbClr val="121824"/>
          </a:solidFill>
          <a:ln w="12700">
            <a:solidFill>
              <a:srgbClr val="1F29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18745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55F7"/>
                </a:solidFill>
              </a:rPr>
              <a:t>Dimensional Analytics &amp; Visualizations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2286000"/>
            <a:ext cx="45720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Funnel Progression Reports: Track conversion loss across each pipeline transition.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Counsellor &amp; Branch Scorecards: Measure lead conversion rates and response time.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Intake &amp; Country Yield: Analyze popular destination countries and top programs.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Revenue &amp; Receivables Forecast: Forecast incoming tuition fees and commission payouts.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CSV Data Export: 1-click export of filtered datasets for external accounting.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126480" y="1691640"/>
            <a:ext cx="5120640" cy="4434840"/>
          </a:xfrm>
          <a:prstGeom prst="rect">
            <a:avLst>
              <a:gd name="adj" fmla="val 1649"/>
            </a:avLst>
          </a:prstGeom>
          <a:solidFill>
            <a:srgbClr val="121824"/>
          </a:solidFill>
          <a:ln w="12700">
            <a:solidFill>
              <a:srgbClr val="1F29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0" y="18745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B6D4"/>
                </a:solidFill>
              </a:rPr>
              <a:t>Natural Language Querying &amp; KPIs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0" y="2286000"/>
            <a:ext cx="45720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AI Natural Language BI Query: Query reports in plain English via Gemini AI.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Period-over-Period Comparison: Compare month-over-month and year-over-year growth.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Anomaly Detection: Visual alerts on unusual drops in applications or missed targets.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Scoped Access: Staff members view only reports permitted by their role/office.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Custom Saved Views: Save filtered reporting layouts for recurring board presentations.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3200400" cy="292608"/>
          </a:xfrm>
          <a:prstGeom prst="rect">
            <a:avLst>
              <a:gd name="adj" fmla="val 18750"/>
            </a:avLst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65760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B981"/>
                </a:solidFill>
              </a:rPr>
              <a:t>SECTION 3.24: AUDIT TRAIL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749808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3.24 Tamper-Proof Audit Trail &amp; System Logs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23444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Immutable event logging for regulatory compliance and institutional governance.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691640"/>
            <a:ext cx="5120640" cy="4434840"/>
          </a:xfrm>
          <a:prstGeom prst="rect">
            <a:avLst>
              <a:gd name="adj" fmla="val 1649"/>
            </a:avLst>
          </a:prstGeom>
          <a:solidFill>
            <a:srgbClr val="121824"/>
          </a:solidFill>
          <a:ln w="12700">
            <a:solidFill>
              <a:srgbClr val="1F29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18745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</a:rPr>
              <a:t>Immutable Audit Stream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2286000"/>
            <a:ext cx="45720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Append-Only Log Architecture: Logs cannot be edited or deleted by browser users.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Granular Actor Attribution: Records User ID, Email, Role, Timestamp &amp; IP.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Action Logging: Tracks Logins, Stage Changes, Profile Updates, Deletions, Exports.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Entity Traceability: Deep links audit entries to specific Lead, Student, or Invoice IDs.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Search &amp; Filter: Filter logs by Actor, Action Type, Entity, Date Range &amp; Severity.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126480" y="1691640"/>
            <a:ext cx="5120640" cy="4434840"/>
          </a:xfrm>
          <a:prstGeom prst="rect">
            <a:avLst>
              <a:gd name="adj" fmla="val 1649"/>
            </a:avLst>
          </a:prstGeom>
          <a:solidFill>
            <a:srgbClr val="121824"/>
          </a:solidFill>
          <a:ln w="12700">
            <a:solidFill>
              <a:srgbClr val="1F29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0" y="18745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3F5E"/>
                </a:solidFill>
              </a:rPr>
              <a:t>Compliance Health &amp; Oversight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0" y="2286000"/>
            <a:ext cx="45720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Auditor Workspace (`/auditor/dashboard`): Dedicated read-only compliance portal.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Compliance Check Records: Pass/Fail auditing of student visa and financial dossiers.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System Integrity Metrics: Compliance Pass Rate % and Critical Security Event alerts.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Security Event Monitoring: Detects unauthorized permission escalation attempts.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Exportable Audit Records: Generate compliance export dossiers for university audits.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3200400" cy="292608"/>
          </a:xfrm>
          <a:prstGeom prst="rect">
            <a:avLst>
              <a:gd name="adj" fmla="val 18750"/>
            </a:avLst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65760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B981"/>
                </a:solidFill>
              </a:rPr>
              <a:t>SECTION 3.25: MASTER DATA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749808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3.25 Master Data Configuration Center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23444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Centralized administrative management of global CRM taxonomy and business rules.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691640"/>
            <a:ext cx="5120640" cy="4434840"/>
          </a:xfrm>
          <a:prstGeom prst="rect">
            <a:avLst>
              <a:gd name="adj" fmla="val 1649"/>
            </a:avLst>
          </a:prstGeom>
          <a:solidFill>
            <a:srgbClr val="121824"/>
          </a:solidFill>
          <a:ln w="12700">
            <a:solidFill>
              <a:srgbClr val="1F29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18745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B6D4"/>
                </a:solidFill>
              </a:rPr>
              <a:t>Administrative Taxonomy Management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2286000"/>
            <a:ext cx="45720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Destination Countries &amp; Currencies: Configure supported study destinations.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Qualification Hierarchy: High School, Bachelor's, Master's, Postgraduate, PhD.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Intake Season Master: September, January, May, July intakes with deadline dates.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Rejection &amp; Lost Reasons: Standardized categorization for continuous analytics.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Custom Field Definition: Add custom attributes to Leads, Students &amp; Applications.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126480" y="1691640"/>
            <a:ext cx="5120640" cy="4434840"/>
          </a:xfrm>
          <a:prstGeom prst="rect">
            <a:avLst>
              <a:gd name="adj" fmla="val 1649"/>
            </a:avLst>
          </a:prstGeom>
          <a:solidFill>
            <a:srgbClr val="121824"/>
          </a:solidFill>
          <a:ln w="12700">
            <a:solidFill>
              <a:srgbClr val="1F29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0" y="18745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</a:rPr>
              <a:t>Workflow &amp; Routing Rules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0" y="2286000"/>
            <a:ext cx="45720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Automated Lead Routing Rules (`/lead-routing`): Rule builder for destination &amp; score.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Lead Scoring Weightages (`/lead-scoring`): Configure points for GPA, IELTS &amp; source.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Automated SLA Workflow Triggers (`/workflow-rules`): Define trigger actions per stage.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Branch Office Configuration: Add new branch hubs with specific operating teams.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Multi-Branch Switcher: Switch active branch context dynamically from top bar.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3200400" cy="292608"/>
          </a:xfrm>
          <a:prstGeom prst="rect">
            <a:avLst>
              <a:gd name="adj" fmla="val 18750"/>
            </a:avLst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65760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B981"/>
                </a:solidFill>
              </a:rPr>
              <a:t>SECTION 3.26: DATA MIGRATION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749808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3.26 Data Migration &amp; Bulk Import/Export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23444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CSV/Excel ingestion tools with column mapping and validation.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691640"/>
            <a:ext cx="5120640" cy="4434840"/>
          </a:xfrm>
          <a:prstGeom prst="rect">
            <a:avLst>
              <a:gd name="adj" fmla="val 1649"/>
            </a:avLst>
          </a:prstGeom>
          <a:solidFill>
            <a:srgbClr val="121824"/>
          </a:solidFill>
          <a:ln w="12700">
            <a:solidFill>
              <a:srgbClr val="1F29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18745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</a:rPr>
              <a:t>CSV / Excel Import Engine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2286000"/>
            <a:ext cx="45720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Dedicated Migration Center: Accessible at `/import-export` for bulk data loading.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Multi-Entity Support: Import Leads, Students, Universities, Programmes &amp; Invoices.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Interactive Column Mapping: Maps CSV headers to CRM data model attributes.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Real-Time Validation: Pre-validates emails, phone formats &amp; mandatory attributes.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Error Isolation: Skips invalid rows with error logs while importing valid records.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126480" y="1691640"/>
            <a:ext cx="5120640" cy="4434840"/>
          </a:xfrm>
          <a:prstGeom prst="rect">
            <a:avLst>
              <a:gd name="adj" fmla="val 1649"/>
            </a:avLst>
          </a:prstGeom>
          <a:solidFill>
            <a:srgbClr val="121824"/>
          </a:solidFill>
          <a:ln w="12700">
            <a:solidFill>
              <a:srgbClr val="1F29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0" y="18745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55F7"/>
                </a:solidFill>
              </a:rPr>
              <a:t>Data Export &amp; Governance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0" y="2286000"/>
            <a:ext cx="45720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Comprehensive Data Export: 1-click CSV generation across all tabular views.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Encrypted Data Transmission: Secure download over TLS with RBAC export gating.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Rollback &amp; Batch Tracking: Tracks batch import IDs for rollback capabilities.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Template Downloads: Download formatted CSV sample templates for easy onboarding.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Data Quality Governance (`/data-quality`): Scans database health and data completeness.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3200400" cy="292608"/>
          </a:xfrm>
          <a:prstGeom prst="rect">
            <a:avLst>
              <a:gd name="adj" fmla="val 18750"/>
            </a:avLst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65760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B981"/>
                </a:solidFill>
              </a:rPr>
              <a:t>SECTION 3.27: PUBLIC FORMS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749808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3.27 Public Form Builder &amp; Lead Ingestion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23444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 drag-and-drop web form builder generating public lead capture links.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691640"/>
            <a:ext cx="5120640" cy="4434840"/>
          </a:xfrm>
          <a:prstGeom prst="rect">
            <a:avLst>
              <a:gd name="adj" fmla="val 1649"/>
            </a:avLst>
          </a:prstGeom>
          <a:solidFill>
            <a:srgbClr val="121824"/>
          </a:solidFill>
          <a:ln w="12700">
            <a:solidFill>
              <a:srgbClr val="1F29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18745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</a:rPr>
              <a:t>Visual Drag-and-Drop Form Builder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2286000"/>
            <a:ext cx="45720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Visual Builder (`/form-builder`): Create custom inquiry forms for websites and ads.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Rich Form Fields: Text, Email, Phone, Country Select, Program Dropdown, File Upload.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Custom Styling &amp; Theming: Branded headers, descriptions, and submit buttons.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Shareable Public URLs: Generates unique standalone link `/public/forms/:formId`.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Embeddable Widgets: Copy responsive iframe embed snippet for external landing pages.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126480" y="1691640"/>
            <a:ext cx="5120640" cy="4434840"/>
          </a:xfrm>
          <a:prstGeom prst="rect">
            <a:avLst>
              <a:gd name="adj" fmla="val 1649"/>
            </a:avLst>
          </a:prstGeom>
          <a:solidFill>
            <a:srgbClr val="121824"/>
          </a:solidFill>
          <a:ln w="12700">
            <a:solidFill>
              <a:srgbClr val="1F29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0" y="18745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B6D4"/>
                </a:solidFill>
              </a:rPr>
              <a:t>Automated Lead Ingestion &amp; Analytics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0" y="2286000"/>
            <a:ext cx="45720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Zero-Auth Submission: Public prospects submit inquiries without logging in.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Direct Pipeline Ingestion: Submissions auto-create Lead records in Firestore.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Auto-Assign &amp; Score: Applies lead scoring and routing rules instantly on submission.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Form Performance Analytics: Tracks View Count, Start Count &amp; Submit Conversion Rate %.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Success Landing Page: Redirects to customizable `/public/form-success` confirmation.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3200400" cy="292608"/>
          </a:xfrm>
          <a:prstGeom prst="rect">
            <a:avLst>
              <a:gd name="adj" fmla="val 18750"/>
            </a:avLst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65760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B981"/>
                </a:solidFill>
              </a:rPr>
              <a:t>SECTION 4: NON-FUNCTIONAL REQS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749808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4.1 - 4.8 Security, Performance &amp; GDPR Privacy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23444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non-functional architecture benchmarks and regulatory compliance.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691640"/>
            <a:ext cx="5120640" cy="4434840"/>
          </a:xfrm>
          <a:prstGeom prst="rect">
            <a:avLst>
              <a:gd name="adj" fmla="val 1649"/>
            </a:avLst>
          </a:prstGeom>
          <a:solidFill>
            <a:srgbClr val="121824"/>
          </a:solidFill>
          <a:ln w="12700">
            <a:solidFill>
              <a:srgbClr val="1F29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18745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</a:rPr>
              <a:t>§4.1 - §4.4 Security, Privacy &amp; GDPR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2286000"/>
            <a:ext cx="45720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HTTPS / TLS 1.3 Encryption: End-to-end encryption in transit and AES-256 at rest.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GDPR Privacy Center: 1-click JSON Data Export &amp; Right-to-be-Forgotten erasure.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OWASP Top 10 Hardened: XSS sanitation, CSRF tokens, strict parameter limits.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Consent Management: Versioned terms acceptance and consent audit records.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Client Privilege Enforcement: Security rules validated server-side on Cloud Firestore.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126480" y="1691640"/>
            <a:ext cx="5120640" cy="4434840"/>
          </a:xfrm>
          <a:prstGeom prst="rect">
            <a:avLst>
              <a:gd name="adj" fmla="val 1649"/>
            </a:avLst>
          </a:prstGeom>
          <a:solidFill>
            <a:srgbClr val="121824"/>
          </a:solidFill>
          <a:ln w="12700">
            <a:solidFill>
              <a:srgbClr val="1F29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0" y="18745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55F7"/>
                </a:solidFill>
              </a:rPr>
              <a:t>§4.5 - §4.8 Performance, Reliability &amp; Cloud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0" y="2286000"/>
            <a:ext cx="45720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Sub-Second UI Rendering: Optimistic state updates with real-time Firestore sync.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99.9% Cloud Availability: Powered by Google Cloud Platform &amp; Firebase Hosting CDN.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Automated Scalability: Serverless Firestore auto-scales across concurrent global users.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Responsive Design: Liquid Glass UI optimized across Mobile, Tablet &amp; 4K Displays.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Automated Offline Recovery: Graceful fallback and error retry mechanisms.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3200400" cy="292608"/>
          </a:xfrm>
          <a:prstGeom prst="rect">
            <a:avLst>
              <a:gd name="adj" fmla="val 18750"/>
            </a:avLst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65760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B981"/>
                </a:solidFill>
              </a:rPr>
              <a:t>SECTION 4: QUALITY ASSURANCE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749808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4.9 - 4.15 API, Accessibility &amp; Quality Assurance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23444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Integration standards, accessibility guidelines, and automated verification.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691640"/>
            <a:ext cx="5120640" cy="4434840"/>
          </a:xfrm>
          <a:prstGeom prst="rect">
            <a:avLst>
              <a:gd name="adj" fmla="val 1649"/>
            </a:avLst>
          </a:prstGeom>
          <a:solidFill>
            <a:srgbClr val="121824"/>
          </a:solidFill>
          <a:ln w="12700">
            <a:solidFill>
              <a:srgbClr val="1F29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18745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B6D4"/>
                </a:solidFill>
              </a:rPr>
              <a:t>§4.9 - §4.12 Integration &amp; Usability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2286000"/>
            <a:ext cx="45720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RESTful API Architecture: Modular data hooks structured for third-party webhook sync.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Zero-Cost Document Storage: Google Drive and Cloud Storage integration architecture.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Multi-Branch Workspace Scoping: Instant branch switching without session resets.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High-Contrast Design Tokens: Accessible color contrast ratios matching WCAG 2.1.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Dynamic Demo Toggle: Instant toggle between sample data and clean live Firestore.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126480" y="1691640"/>
            <a:ext cx="5120640" cy="4434840"/>
          </a:xfrm>
          <a:prstGeom prst="rect">
            <a:avLst>
              <a:gd name="adj" fmla="val 1649"/>
            </a:avLst>
          </a:prstGeom>
          <a:solidFill>
            <a:srgbClr val="121824"/>
          </a:solidFill>
          <a:ln w="12700">
            <a:solidFill>
              <a:srgbClr val="1F29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0" y="18745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</a:rPr>
              <a:t>§4.13 - §4.15 Testing &amp; Verification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0" y="2286000"/>
            <a:ext cx="45720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TypeScript Static Compilation: 100% strictly typed codebase with 0 build errors.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Automated Vitest Test Suite: Unit tests verifying deduplication and scoring algorithms.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Production Bundle Optimization: Tree-shaken chunks compiled via Vite in &lt;6 seconds.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Continuous Deployment: Live automated deployment to Firebase Hosting.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Git Version Control: 78+ structured phase commits on GitHub `main` branch.</a:t>
            </a:r>
            <a:endParaRPr 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3200400" cy="292608"/>
          </a:xfrm>
          <a:prstGeom prst="rect">
            <a:avLst>
              <a:gd name="adj" fmla="val 18750"/>
            </a:avLst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65760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B981"/>
                </a:solidFill>
              </a:rPr>
              <a:t>MASTER DEMO STORY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749808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Master Demo Story: Student 'Aarav Patel' Lifecycle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23444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Chronological 10-minute presentation covering all 14 roles seamlessly.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691640"/>
            <a:ext cx="10515600" cy="548640"/>
          </a:xfrm>
          <a:prstGeom prst="rect">
            <a:avLst>
              <a:gd name="adj" fmla="val 13333"/>
            </a:avLst>
          </a:prstGeom>
          <a:solidFill>
            <a:srgbClr val="121824"/>
          </a:solidFill>
          <a:ln w="12700">
            <a:solidFill>
              <a:srgbClr val="1F293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1783080"/>
            <a:ext cx="365760" cy="365760"/>
          </a:xfrm>
          <a:prstGeom prst="rect">
            <a:avLst>
              <a:gd name="adj" fmla="val 50000"/>
            </a:avLst>
          </a:prstGeom>
          <a:solidFill>
            <a:srgbClr val="10B981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7830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90D16"/>
                </a:solidFill>
              </a:rPr>
              <a:t>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463040" y="169164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Agent Capture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840480" y="169164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</a:rPr>
              <a:t>Agent lodges Aarav Patel via referral link.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778240" y="169164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6B6D4"/>
                </a:solidFill>
              </a:rPr>
              <a:t>External Agent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31520" y="2331720"/>
            <a:ext cx="10515600" cy="548640"/>
          </a:xfrm>
          <a:prstGeom prst="rect">
            <a:avLst>
              <a:gd name="adj" fmla="val 13333"/>
            </a:avLst>
          </a:prstGeom>
          <a:solidFill>
            <a:srgbClr val="121824"/>
          </a:solidFill>
          <a:ln w="12700">
            <a:solidFill>
              <a:srgbClr val="1F293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2423160"/>
            <a:ext cx="365760" cy="365760"/>
          </a:xfrm>
          <a:prstGeom prst="rect">
            <a:avLst>
              <a:gd name="adj" fmla="val 50000"/>
            </a:avLst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24231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90D16"/>
                </a:solidFill>
              </a:rPr>
              <a:t>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463040" y="233172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Counselling &amp; AI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840480" y="233172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</a:rPr>
              <a:t>Counsellor runs AI Course Matcher &amp; SOP Drafter.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778240" y="233172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6B6D4"/>
                </a:solidFill>
              </a:rPr>
              <a:t>Counsellor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31520" y="2971800"/>
            <a:ext cx="10515600" cy="548640"/>
          </a:xfrm>
          <a:prstGeom prst="rect">
            <a:avLst>
              <a:gd name="adj" fmla="val 13333"/>
            </a:avLst>
          </a:prstGeom>
          <a:solidFill>
            <a:srgbClr val="121824"/>
          </a:solidFill>
          <a:ln w="12700">
            <a:solidFill>
              <a:srgbClr val="1F293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14400" y="3063240"/>
            <a:ext cx="365760" cy="365760"/>
          </a:xfrm>
          <a:prstGeom prst="rect">
            <a:avLst>
              <a:gd name="adj" fmla="val 50000"/>
            </a:avLst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914400" y="30632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90D16"/>
                </a:solidFill>
              </a:rPr>
              <a:t>3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463040" y="297180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Operations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840480" y="297180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</a:rPr>
              <a:t>Team Leader balances caseload &amp; reallocates app.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778240" y="297180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6B6D4"/>
                </a:solidFill>
              </a:rPr>
              <a:t>Team Leader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31520" y="3611880"/>
            <a:ext cx="10515600" cy="548640"/>
          </a:xfrm>
          <a:prstGeom prst="rect">
            <a:avLst>
              <a:gd name="adj" fmla="val 13333"/>
            </a:avLst>
          </a:prstGeom>
          <a:solidFill>
            <a:srgbClr val="121824"/>
          </a:solidFill>
          <a:ln w="12700">
            <a:solidFill>
              <a:srgbClr val="1F293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14400" y="3703320"/>
            <a:ext cx="365760" cy="365760"/>
          </a:xfrm>
          <a:prstGeom prst="rect">
            <a:avLst>
              <a:gd name="adj" fmla="val 50000"/>
            </a:avLst>
          </a:prstGeom>
          <a:solidFill>
            <a:srgbClr val="10B981"/>
          </a:solidFill>
          <a:ln/>
        </p:spPr>
      </p:sp>
      <p:sp>
        <p:nvSpPr>
          <p:cNvPr id="26" name="Text 24"/>
          <p:cNvSpPr/>
          <p:nvPr/>
        </p:nvSpPr>
        <p:spPr>
          <a:xfrm>
            <a:off x="914400" y="37033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90D16"/>
                </a:solidFill>
              </a:rPr>
              <a:t>4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463040" y="361188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Admissions &amp; Uni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840480" y="361188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</a:rPr>
              <a:t>Admissions verifies transcripts; Uni issues offer.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8778240" y="361188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6B6D4"/>
                </a:solidFill>
              </a:rPr>
              <a:t>Admissions &amp; Uni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31520" y="4251960"/>
            <a:ext cx="10515600" cy="548640"/>
          </a:xfrm>
          <a:prstGeom prst="rect">
            <a:avLst>
              <a:gd name="adj" fmla="val 13333"/>
            </a:avLst>
          </a:prstGeom>
          <a:solidFill>
            <a:srgbClr val="121824"/>
          </a:solidFill>
          <a:ln w="12700">
            <a:solidFill>
              <a:srgbClr val="1F293D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14400" y="4343400"/>
            <a:ext cx="365760" cy="365760"/>
          </a:xfrm>
          <a:prstGeom prst="rect">
            <a:avLst>
              <a:gd name="adj" fmla="val 50000"/>
            </a:avLst>
          </a:prstGeom>
          <a:solidFill>
            <a:srgbClr val="10B981"/>
          </a:solidFill>
          <a:ln/>
        </p:spPr>
      </p:sp>
      <p:sp>
        <p:nvSpPr>
          <p:cNvPr id="32" name="Text 30"/>
          <p:cNvSpPr/>
          <p:nvPr/>
        </p:nvSpPr>
        <p:spPr>
          <a:xfrm>
            <a:off x="914400" y="43434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90D16"/>
                </a:solidFill>
              </a:rPr>
              <a:t>5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1463040" y="425196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Student Portal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3840480" y="425196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</a:rPr>
              <a:t>Aarav tracks milestone &amp; uploads passport from phone.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8778240" y="425196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6B6D4"/>
                </a:solidFill>
              </a:rPr>
              <a:t>Student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31520" y="4892040"/>
            <a:ext cx="10515600" cy="548640"/>
          </a:xfrm>
          <a:prstGeom prst="rect">
            <a:avLst>
              <a:gd name="adj" fmla="val 13333"/>
            </a:avLst>
          </a:prstGeom>
          <a:solidFill>
            <a:srgbClr val="121824"/>
          </a:solidFill>
          <a:ln w="12700">
            <a:solidFill>
              <a:srgbClr val="1F293D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14400" y="4983480"/>
            <a:ext cx="365760" cy="365760"/>
          </a:xfrm>
          <a:prstGeom prst="rect">
            <a:avLst>
              <a:gd name="adj" fmla="val 50000"/>
            </a:avLst>
          </a:prstGeom>
          <a:solidFill>
            <a:srgbClr val="10B981"/>
          </a:solidFill>
          <a:ln/>
        </p:spPr>
      </p:sp>
      <p:sp>
        <p:nvSpPr>
          <p:cNvPr id="38" name="Text 36"/>
          <p:cNvSpPr/>
          <p:nvPr/>
        </p:nvSpPr>
        <p:spPr>
          <a:xfrm>
            <a:off x="914400" y="49834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90D16"/>
                </a:solidFill>
              </a:rPr>
              <a:t>6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1463040" y="489204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Visa &amp; Finance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3840480" y="489204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</a:rPr>
              <a:t>AI Visa Risk Score calculated; Invoice &amp; receipt printed.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8778240" y="489204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6B6D4"/>
                </a:solidFill>
              </a:rPr>
              <a:t>Visa &amp; Finance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731520" y="5532120"/>
            <a:ext cx="10515600" cy="548640"/>
          </a:xfrm>
          <a:prstGeom prst="rect">
            <a:avLst>
              <a:gd name="adj" fmla="val 13333"/>
            </a:avLst>
          </a:prstGeom>
          <a:solidFill>
            <a:srgbClr val="121824"/>
          </a:solidFill>
          <a:ln w="12700">
            <a:solidFill>
              <a:srgbClr val="1F293D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914400" y="5623560"/>
            <a:ext cx="365760" cy="365760"/>
          </a:xfrm>
          <a:prstGeom prst="rect">
            <a:avLst>
              <a:gd name="adj" fmla="val 50000"/>
            </a:avLst>
          </a:prstGeom>
          <a:solidFill>
            <a:srgbClr val="10B981"/>
          </a:solidFill>
          <a:ln/>
        </p:spPr>
      </p:sp>
      <p:sp>
        <p:nvSpPr>
          <p:cNvPr id="44" name="Text 42"/>
          <p:cNvSpPr/>
          <p:nvPr/>
        </p:nvSpPr>
        <p:spPr>
          <a:xfrm>
            <a:off x="914400" y="56235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90D16"/>
                </a:solidFill>
              </a:rPr>
              <a:t>7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1463040" y="553212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Audit &amp; Governance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3840480" y="553212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</a:rPr>
              <a:t>Auditor checks logs; Super Admin reviews GDPR.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8778240" y="553212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6B6D4"/>
                </a:solidFill>
              </a:rPr>
              <a:t>Auditor &amp; Admin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3200400" cy="292608"/>
          </a:xfrm>
          <a:prstGeom prst="rect">
            <a:avLst>
              <a:gd name="adj" fmla="val 18750"/>
            </a:avLst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65760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B981"/>
                </a:solidFill>
              </a:rPr>
              <a:t>EXECUTION CHEAT SHEET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749808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 Execution Cheat Sheet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23444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Step-by-step role buttons, exact clicks, and key talking points.</a:t>
            </a:r>
            <a:endParaRPr lang="en-US" sz="11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691640"/>
          <a:ext cx="10515600" cy="4434840"/>
        </p:xfrm>
        <a:graphic>
          <a:graphicData uri="http://schemas.openxmlformats.org/drawingml/2006/table">
            <a:tbl>
              <a:tblPr/>
              <a:tblGrid>
                <a:gridCol w="2628900"/>
                <a:gridCol w="2628900"/>
                <a:gridCol w="2628900"/>
                <a:gridCol w="2628900"/>
              </a:tblGrid>
              <a:tr h="369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</a:rPr>
                        <a:t>Step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Role Button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Where to Click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What to Demonstrate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D"/>
                    </a:solidFill>
                  </a:tcPr>
                </a:tc>
              </a:tr>
              <a:tr h="369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Header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Topbar Toggle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Flip 'Demo Data: ON' to 'Live Only' to prove dynamic state.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4"/>
                    </a:solidFill>
                  </a:tcPr>
                </a:tc>
              </a:tr>
              <a:tr h="369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Agent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/agent/dashboard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Show referral tracking link, student pipeline &amp; $4,850 commission.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4"/>
                    </a:solidFill>
                  </a:tcPr>
                </a:tc>
              </a:tr>
              <a:tr h="369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Counsellor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/leads &amp; AI Tools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Add lead, run Gemini Course Matcher &amp; generate instant SOP.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4"/>
                    </a:solidFill>
                  </a:tcPr>
                </a:tc>
              </a:tr>
              <a:tr h="369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4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Team Leader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/team-leader/applications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Reassign application to counsellor; show workload heatmap update.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4"/>
                    </a:solidFill>
                  </a:tcPr>
                </a:tc>
              </a:tr>
              <a:tr h="369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5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Admissions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/admissions/dashboard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Verify academic transcripts; issue Conditional/Unconditional offer.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4"/>
                    </a:solidFill>
                  </a:tcPr>
                </a:tc>
              </a:tr>
              <a:tr h="369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6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University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/university/dashboard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Show institution portal and direct university cohort decisioning.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4"/>
                    </a:solidFill>
                  </a:tcPr>
                </a:tc>
              </a:tr>
              <a:tr h="369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7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Student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/student/dashboard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Show visual milestone progress timeline &amp; profile self-edit.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4"/>
                    </a:solidFill>
                  </a:tcPr>
                </a:tc>
              </a:tr>
              <a:tr h="369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8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Visa Officer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/visa-officer/dashboard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Run Gemini Visa Risk tool; show approval % and CAS checklist.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4"/>
                    </a:solidFill>
                  </a:tcPr>
                </a:tc>
              </a:tr>
              <a:tr h="369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9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Finance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/finance/invoices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Click 'Print Invoice / Receipt'; approve partner agent commission.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4"/>
                    </a:solidFill>
                  </a:tcPr>
                </a:tc>
              </a:tr>
              <a:tr h="369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10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Auditor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/auditor/dashboard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Show append-only audit trail and compliance pass rate metrics.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4"/>
                    </a:solidFill>
                  </a:tcPr>
                </a:tc>
              </a:tr>
              <a:tr h="369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11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Super Admin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/super-admin/dashboard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Show multi-tenant subscription tiers &amp; GDPR JSON export.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F2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3200400" cy="292608"/>
          </a:xfrm>
          <a:prstGeom prst="rect">
            <a:avLst>
              <a:gd name="adj" fmla="val 18750"/>
            </a:avLst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65760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B981"/>
                </a:solidFill>
              </a:rPr>
              <a:t>SYSTEM COMPLETION SUMMARY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749808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 &amp; Production Verification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23444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complete, fully verified, compiled, and deployed live to production.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691640"/>
            <a:ext cx="5120640" cy="4434840"/>
          </a:xfrm>
          <a:prstGeom prst="rect">
            <a:avLst>
              <a:gd name="adj" fmla="val 1649"/>
            </a:avLst>
          </a:prstGeom>
          <a:solidFill>
            <a:srgbClr val="121824"/>
          </a:solidFill>
          <a:ln w="12700">
            <a:solidFill>
              <a:srgbClr val="1F29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18745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</a:rPr>
              <a:t>Verified Implementation Deliverables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2286000"/>
            <a:ext cx="45720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100% Requirement Coverage: Every section (§3.1 - §3.27 &amp; §4.1 - §4.15) wired.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14 Configurable Roles: Dedicated workspaces and instant login shortcuts.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5 Active Gemini AI Engines: Course Matcher, SOP Drafter, Visa Risk, OCR, Auditor.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Dynamic Demo Switch: Global Show/Hide Demo Data toggle in Topbar.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Codebase Scale: ~23,000 lines of TypeScript across 78 GitHub commits.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126480" y="1691640"/>
            <a:ext cx="5120640" cy="4434840"/>
          </a:xfrm>
          <a:prstGeom prst="rect">
            <a:avLst>
              <a:gd name="adj" fmla="val 1649"/>
            </a:avLst>
          </a:prstGeom>
          <a:solidFill>
            <a:srgbClr val="121824"/>
          </a:solidFill>
          <a:ln w="12700">
            <a:solidFill>
              <a:srgbClr val="1F29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0" y="18745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B6D4"/>
                </a:solidFill>
              </a:rPr>
              <a:t>Live Production Links &amp; Verification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0" y="2286000"/>
            <a:ext cx="45720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Live Web App: https://education-crm-9fee2.web.app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GitHub Repository: https://github.com/MujtabaZaheer/CRM.git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TypeScript Compile Check: 0 Errors (Strictly Typed)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Production Build: Clean Vite build in 5.49 seconds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• Cloud Database: Live Google Cloud Firestore with real-time listeners.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EduCRM Enterprise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EduCRM — Comprehensive Master Specification &amp; System Flow Presentation</dc:title>
  <dc:subject>PptxGenJS Presentation</dc:subject>
  <dc:creator>EduCRM Architecture &amp; Compliance Team</dc:creator>
  <cp:lastModifiedBy>EduCRM Architecture &amp; Compliance Team</cp:lastModifiedBy>
  <cp:revision>1</cp:revision>
  <dcterms:created xsi:type="dcterms:W3CDTF">2026-08-26T22:35:17Z</dcterms:created>
  <dcterms:modified xsi:type="dcterms:W3CDTF">2026-08-26T22:35:17Z</dcterms:modified>
</cp:coreProperties>
</file>