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45920"/>
            <a:ext cx="137160" cy="2926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645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EduCRM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97280" y="2468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Education Management Platform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31089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End-to-End System Demo Flow &amp; Role Architecture Walkthrough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Dedicated User Roles • 5 Gemini 2.0 Flash AI Tools • Real-Time Firestore Engine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4206240"/>
            <a:ext cx="9601200" cy="1371600"/>
          </a:xfrm>
          <a:prstGeom prst="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38912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Live Production URL: https://education-crm-9fee2.web.app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Presentation Mode: 1-Click Role Quick-Access • Dynamic Demo Data Toggle (Show/Hide)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Database: Live Cloud Firestore Real-Time Synchronized Engine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926080" cy="320040"/>
          </a:xfrm>
          <a:prstGeom prst="rect">
            <a:avLst>
              <a:gd name="adj" fmla="val 22857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EDUCRM SYSTEM WALKTHROUGH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Overview: What is EduCRM?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unified, multi-tenant digital ecosystem powering international education agencies &amp; universities.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2514600" cy="4114800"/>
          </a:xfrm>
          <a:prstGeom prst="rect">
            <a:avLst>
              <a:gd name="adj" fmla="val 3636"/>
            </a:avLst>
          </a:prstGeom>
          <a:solidFill>
            <a:srgbClr val="161B22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User Roles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2148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portals for Counsellors, Team Leaders, Admissions, Visa, Finance, Students, Agents, Universities &amp; Auditors.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920240"/>
            <a:ext cx="2514600" cy="4114800"/>
          </a:xfrm>
          <a:prstGeom prst="rect">
            <a:avLst>
              <a:gd name="adj" fmla="val 3636"/>
            </a:avLst>
          </a:prstGeom>
          <a:solidFill>
            <a:srgbClr val="161B22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1945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2.0 AI Suite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11880" y="2834640"/>
            <a:ext cx="2148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AI Course Matcher, SOP Drafter, Visa Risk Calculator, Document OCR Extractor &amp; Readiness Auditor.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920240"/>
            <a:ext cx="2514600" cy="4114800"/>
          </a:xfrm>
          <a:prstGeom prst="rect">
            <a:avLst>
              <a:gd name="adj" fmla="val 3636"/>
            </a:avLst>
          </a:prstGeom>
          <a:solidFill>
            <a:srgbClr val="161B22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1945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Demo Engine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2834640"/>
            <a:ext cx="2148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Topbar toggle to switch seamlessly between rich pre-seeded data and clean live Firestore state.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23960" y="1920240"/>
            <a:ext cx="2514600" cy="4114800"/>
          </a:xfrm>
          <a:prstGeom prst="rect">
            <a:avLst>
              <a:gd name="adj" fmla="val 3636"/>
            </a:avLst>
          </a:prstGeom>
          <a:solidFill>
            <a:srgbClr val="161B22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6840" y="21945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Compliance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06840" y="2834640"/>
            <a:ext cx="2148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audit logging, multi-branch scoping, GDPR privacy export &amp; multi-tenant isolation.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926080" cy="320040"/>
          </a:xfrm>
          <a:prstGeom prst="rect">
            <a:avLst>
              <a:gd name="adj" fmla="val 22857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EDUCRM SYSTEM WALKTHROUGH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Presentation Flow: Student Lifecycle Story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Demonstrating the entire CRM through a coherent student journey: 'Aarav Patel'.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0515600" cy="530352"/>
          </a:xfrm>
          <a:prstGeom prst="rect">
            <a:avLst>
              <a:gd name="adj" fmla="val 1379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Act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92024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 Capture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External Recruiter submits student referral &amp; tracks commission.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0" y="192024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External Agent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542032"/>
            <a:ext cx="10515600" cy="530352"/>
          </a:xfrm>
          <a:prstGeom prst="rect">
            <a:avLst>
              <a:gd name="adj" fmla="val 1379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542032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Act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54203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Counselling &amp; AI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3360" y="2542032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Lead scoring, Gemini Course Matcher &amp; instant SOP drafter.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69680" y="2542032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Counsellor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163824"/>
            <a:ext cx="10515600" cy="530352"/>
          </a:xfrm>
          <a:prstGeom prst="rect">
            <a:avLst>
              <a:gd name="adj" fmla="val 1379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163824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Act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316382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Team Leadership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0" y="3163824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Conversion funnels, caseload balancing &amp; lead reallocation.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69680" y="316382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Team Leader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785616"/>
            <a:ext cx="10515600" cy="530352"/>
          </a:xfrm>
          <a:prstGeom prst="rect">
            <a:avLst>
              <a:gd name="adj" fmla="val 1379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785616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Act 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378561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Admissions &amp; Uni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23360" y="3785616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Credential QA, 1-click app cloner &amp; direct university decision.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869680" y="378561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Admissions &amp; University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4407408"/>
            <a:ext cx="10515600" cy="530352"/>
          </a:xfrm>
          <a:prstGeom prst="rect">
            <a:avLst>
              <a:gd name="adj" fmla="val 1379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407408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Act 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440740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Student Experience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23360" y="4407408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Self-service application tracking, document vault &amp; profile edit.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869680" y="440740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Student Portal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" y="5029200"/>
            <a:ext cx="10515600" cy="530352"/>
          </a:xfrm>
          <a:prstGeom prst="rect">
            <a:avLst>
              <a:gd name="adj" fmla="val 1379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02920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Act 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920240" y="502920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Visa &amp; Finance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23360" y="5029200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AI Visa Probability tool, tuition invoices, receipts &amp; payouts.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869680" y="502920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Visa &amp; Finance Officers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1520" y="5650992"/>
            <a:ext cx="10515600" cy="530352"/>
          </a:xfrm>
          <a:prstGeom prst="rect">
            <a:avLst>
              <a:gd name="adj" fmla="val 1379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5650992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Act 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920240" y="565099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Support &amp; Audit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023360" y="5650992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Helpdesk resolution, tamper-proof audit trails &amp; GDPR export.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869680" y="5650992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Support &amp; Auditor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926080" cy="320040"/>
          </a:xfrm>
          <a:prstGeom prst="rect">
            <a:avLst>
              <a:gd name="adj" fmla="val 22857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ACT 1: LEAD INGESTION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1: External Agent Portal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external_agent • Route: /agent/dashboard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5120640" cy="4206240"/>
          </a:xfrm>
          <a:prstGeom prst="rect">
            <a:avLst>
              <a:gd name="adj" fmla="val 217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920240"/>
            <a:ext cx="5120640" cy="4206240"/>
          </a:xfrm>
          <a:prstGeom prst="rect">
            <a:avLst>
              <a:gd name="adj" fmla="val 217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Key Capabilities &amp; UI Highlights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Branded Self-Service Portal for Global Recruiters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Unique Agent Referral Tracking Link generator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Multi-Tier Sub-Agent Hierarchy &amp; Management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Real-Time Commission Ledger &amp; Payout Transparency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Direct Student Dossier Lodgement into Agency Pipeline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Live Demo Speaking Points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56032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B949E"/>
                </a:solidFill>
              </a:rPr>
              <a:t>1. Click 'Agent' on Login page ➔ Show live metrics ($4,850 commission, 12 referred students).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B949E"/>
                </a:solidFill>
              </a:rPr>
              <a:t>2. Click 'Copy Referral Link' to demonstrate seamless multi-channel prospect acquisition.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B949E"/>
                </a:solidFill>
              </a:rPr>
              <a:t>3. Show how referrals immediately synchronize into the central counsellor queue without manual data entry.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926080" cy="320040"/>
          </a:xfrm>
          <a:prstGeom prst="rect">
            <a:avLst>
              <a:gd name="adj" fmla="val 22857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ACT 2: COUNSELLING &amp;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2: Counselling &amp; Gemini AI Suite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counsellor • Route: /counsellor/dashboard &amp; /leads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5120640" cy="1920240"/>
          </a:xfrm>
          <a:prstGeom prst="rect">
            <a:avLst>
              <a:gd name="adj" fmla="val 4762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Course Matcher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5146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Matches GPA, budget &amp; destination against global catalog with 0-100% score.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920240"/>
            <a:ext cx="5120640" cy="1920240"/>
          </a:xfrm>
          <a:prstGeom prst="rect">
            <a:avLst>
              <a:gd name="adj" fmla="val 4762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Personal Statement Drafter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5146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Generates 500-word university-ready Statement of Purpose in 2 seconds.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5120640" cy="1920240"/>
          </a:xfrm>
          <a:prstGeom prst="rect">
            <a:avLst>
              <a:gd name="adj" fmla="val 4762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Document OCR Extractor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617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Vision AI extracts transcripts/passports &amp; creates student profiles automatically.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4023360"/>
            <a:ext cx="5120640" cy="1920240"/>
          </a:xfrm>
          <a:prstGeom prst="rect">
            <a:avLst>
              <a:gd name="adj" fmla="val 4762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Lead Scoring &amp; Deduplication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4617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Algorithmic engagement scoring &amp; automatic duplicate cluster detection.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926080" cy="320040"/>
          </a:xfrm>
          <a:prstGeom prst="rect">
            <a:avLst>
              <a:gd name="adj" fmla="val 22857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ACT 3: OPERATIONS &amp; SLA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3: Team Leader Operations &amp; Workload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team_leader • Route: /team-leader/dashboard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5120640" cy="4206240"/>
          </a:xfrm>
          <a:prstGeom prst="rect">
            <a:avLst>
              <a:gd name="adj" fmla="val 217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920240"/>
            <a:ext cx="5120640" cy="4206240"/>
          </a:xfrm>
          <a:prstGeom prst="rect">
            <a:avLst>
              <a:gd name="adj" fmla="val 217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Operational Capabilities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Real-Time Conversion Funnel Analytics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Counsellor Caseload &amp; Workload Heatmap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1-Click Application Reallocation (`/team-leader/applications`)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Branch SLA &amp; Lead Response Time Monitoring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Team Performance Scorecards &amp; Conversion Rankings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Demo Highlight Flow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56032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B949E"/>
                </a:solidFill>
              </a:rPr>
              <a:t>1. Show Team Leader Dashboard with live metrics across Americas &amp; London branches.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B949E"/>
                </a:solidFill>
              </a:rPr>
              <a:t>2. Open Application Allocation table ➔ Assign pending application to David Kim.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B949E"/>
                </a:solidFill>
              </a:rPr>
              <a:t>3. Show how workload charts update optimistically and persist in Firestore.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926080" cy="320040"/>
          </a:xfrm>
          <a:prstGeom prst="rect">
            <a:avLst>
              <a:gd name="adj" fmla="val 22857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ACT 4: ADMISSIONS &amp; OFFERS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4: Admissions &amp; University Partner Decisioning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Roles: admissions_officer &amp; university_partner • Routes: /admissions &amp; /university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5120640" cy="4206240"/>
          </a:xfrm>
          <a:prstGeom prst="rect">
            <a:avLst>
              <a:gd name="adj" fmla="val 217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920240"/>
            <a:ext cx="5120640" cy="4206240"/>
          </a:xfrm>
          <a:prstGeom prst="rect">
            <a:avLst>
              <a:gd name="adj" fmla="val 217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Admissions Officer Desk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Academic Credential &amp; Transcript Verification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Document QA Status (Verified, Pending, Rejected)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Offer Condition Management (Conditional / Unconditional)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1-Click Application Cloner for backup institution submissions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University Partner Portal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56032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Direct Institutional Portal for partner universities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Review international cohort dossiers in real-time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Issue CAS / I-20 documentation directly on the platform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Synchronized status updates eliminating email bottlenecks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926080" cy="320040"/>
          </a:xfrm>
          <a:prstGeom prst="rect">
            <a:avLst>
              <a:gd name="adj" fmla="val 22857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ACT 5: STUDENT EXPERIENCE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5: Student Self-Service Experience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student • Route: /student/dashboard &amp; /student/profile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5120640" cy="4206240"/>
          </a:xfrm>
          <a:prstGeom prst="rect">
            <a:avLst>
              <a:gd name="adj" fmla="val 217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920240"/>
            <a:ext cx="5120640" cy="4206240"/>
          </a:xfrm>
          <a:prstGeom prst="rect">
            <a:avLst>
              <a:gd name="adj" fmla="val 217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Student Portal Features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Visual Application Milestone Tracker (Lodged ➔ Offer ➔ Visa)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Mobile-Ready Document Upload Vault (Passport, IELTS, Diplomas)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Self-Service Profile &amp; Academic History Editor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Direct Support Request &amp; Query System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Key Business Value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56032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B949E"/>
                </a:solidFill>
              </a:rPr>
              <a:t>1. Complete transparency over admission progress reduces student anxiety.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B949E"/>
                </a:solidFill>
              </a:rPr>
              <a:t>2. Eliminates 70% of repetitive status-inquiry calls to counsellors.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B949E"/>
                </a:solidFill>
              </a:rPr>
              <a:t>3. Allows students to submit missing documents directly from any device 24/7.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926080" cy="320040"/>
          </a:xfrm>
          <a:prstGeom prst="rect">
            <a:avLst>
              <a:gd name="adj" fmla="val 22857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ACT 6: VISA &amp; COMPLIANCE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6: Visa Processing &amp; Risk Analytics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visa_officer • Route: /visa-officer/dashboard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5120640" cy="4206240"/>
          </a:xfrm>
          <a:prstGeom prst="rect">
            <a:avLst>
              <a:gd name="adj" fmla="val 217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920240"/>
            <a:ext cx="5120640" cy="4206240"/>
          </a:xfrm>
          <a:prstGeom prst="rect">
            <a:avLst>
              <a:gd name="adj" fmla="val 217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Visa Officer Workspace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Embassy Case Dossier Tracking (UK Tier 4, Canada SDS, USA F-1)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CAS / I-20 Verification &amp; Biometric Appointment Scheduling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Financial Proof &amp; Liquid Fund Adequacy Checks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Mock Interview Task Allocation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</a:rPr>
              <a:t>Gemini Visa Risk Engine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56032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B949E"/>
                </a:solidFill>
              </a:rPr>
              <a:t>• Analyzes study gaps, English test scores, and financial backing.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B949E"/>
                </a:solidFill>
              </a:rPr>
              <a:t>• Outputs quantifiable Approval Probability Percentage (0-100%).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B949E"/>
                </a:solidFill>
              </a:rPr>
              <a:t>• Provides tailored Risk Mitigation Checklist before embassy submission to prevent costly visa refusals.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926080" cy="320040"/>
          </a:xfrm>
          <a:prstGeom prst="rect">
            <a:avLst>
              <a:gd name="adj" fmla="val 22857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ACT 7: FINANCE &amp; COMMISSIONS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7: Financial Management &amp; Invoicing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finance_officer • Route: /finance/dashboard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5120640" cy="4206240"/>
          </a:xfrm>
          <a:prstGeom prst="rect">
            <a:avLst>
              <a:gd name="adj" fmla="val 217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920240"/>
            <a:ext cx="5120640" cy="4206240"/>
          </a:xfrm>
          <a:prstGeom prst="rect">
            <a:avLst>
              <a:gd name="adj" fmla="val 217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Financial Operations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Multi-Currency Receivables &amp; Tuition Invoicing (GBP, USD, AUD)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1-Click Printable PDF Invoices &amp; Branded Payment Receipts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Payment Gateway / Wire Transfer Reconciliation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Refund Processing &amp; Approval Workflow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Agent Commission Settlement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56032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B949E"/>
                </a:solidFill>
              </a:rPr>
              <a:t>• Automated Commission Calculation linked to enrolled students.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B949E"/>
                </a:solidFill>
              </a:rPr>
              <a:t>• Status lifecycle: Eligible ➔ Approved ➔ Paid ➔ Statement Generated.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B949E"/>
                </a:solidFill>
              </a:rPr>
              <a:t>• Full accounting export (CSV / Print) for external bookkeeping.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926080" cy="320040"/>
          </a:xfrm>
          <a:prstGeom prst="rect">
            <a:avLst>
              <a:gd name="adj" fmla="val 22857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ACT 8 &amp; 9: GOVERNANCE &amp; AUDIT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8 &amp; 9: Governance, Audit &amp; Multi-Tenancy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Roles: auditor, org_admin, platform_super_admin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3291840" cy="4206240"/>
          </a:xfrm>
          <a:prstGeom prst="rect">
            <a:avLst>
              <a:gd name="adj" fmla="val 2778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43400" y="1920240"/>
            <a:ext cx="3291840" cy="4206240"/>
          </a:xfrm>
          <a:prstGeom prst="rect">
            <a:avLst>
              <a:gd name="adj" fmla="val 2778"/>
            </a:avLst>
          </a:prstGeom>
          <a:solidFill>
            <a:srgbClr val="161B2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0" y="1920240"/>
            <a:ext cx="3291840" cy="4206240"/>
          </a:xfrm>
          <a:prstGeom prst="rect">
            <a:avLst>
              <a:gd name="adj" fmla="val 2778"/>
            </a:avLst>
          </a:prstGeom>
          <a:solidFill>
            <a:srgbClr val="161B22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Auditor &amp; Compliance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Immutable Audit Trail (`/auditor/audit-trail`)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Append-only event logger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Compliance Health Metrics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Flag non-compliant dossiers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Org Admin &amp; Rules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56032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Master Data (`/master-data`)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Automated Lead Routing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SLA Workflow Triggers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Multi-Branch Switcher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3816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</a:rPr>
              <a:t>Platform Super Admin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38160" y="256032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Multi-Tenant Management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Subscription Tier Controls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GDPR JSON Data Export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Right-to-be-Forgotten purge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926080" cy="320040"/>
          </a:xfrm>
          <a:prstGeom prst="rect">
            <a:avLst>
              <a:gd name="adj" fmla="val 22857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EDUCRM SYSTEM WALKTHROUGH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1-Page Demo Reference Card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cheat-sheet for running the demo smoothly tomorrow.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0515600" cy="4206240"/>
          </a:xfrm>
          <a:prstGeom prst="rect">
            <a:avLst>
              <a:gd name="adj" fmla="val 2174"/>
            </a:avLst>
          </a:prstGeom>
          <a:solidFill>
            <a:srgbClr val="161B22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Live Presentation URL: https://education-crm-9fee2.web.app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GitHub Repository: https://github.com/MujtabaZaheer/CRM.git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834640"/>
            <a:ext cx="99669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1. Start with Demo Data ON to show fully populated analytics charts and queues across all departments.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2. Toggle 'Demo Data: ON' to 'Live Only' in the top bar if asked to show clean live data or start from scratch.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3. Use the Login Page 'Role Quick-Access' buttons to switch instantly between any of the 14 roles.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4. Test the Gemini AI Vision Extractor with the sample transcript at /sample_transcript.jpg.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5. Every create, edit, and status change persists in real-time to Google Cloud Firestore.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EduCRM Enterprise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EduCRM — End-to-End System &amp; Demo Flow Walkthrough</dc:title>
  <dc:subject>PptxGenJS Presentation</dc:subject>
  <dc:creator>EduCRM Team</dc:creator>
  <cp:lastModifiedBy>EduCRM Team</cp:lastModifiedBy>
  <cp:revision>1</cp:revision>
  <dcterms:created xsi:type="dcterms:W3CDTF">2026-08-26T22:30:30Z</dcterms:created>
  <dcterms:modified xsi:type="dcterms:W3CDTF">2026-08-26T22:30:30Z</dcterms:modified>
</cp:coreProperties>
</file>